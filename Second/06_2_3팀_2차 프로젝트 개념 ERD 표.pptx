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61" r:id="rId2"/>
    <p:sldId id="256" r:id="rId3"/>
    <p:sldId id="262" r:id="rId4"/>
    <p:sldId id="257" r:id="rId5"/>
    <p:sldId id="258" r:id="rId6"/>
    <p:sldId id="259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8" autoAdjust="0"/>
    <p:restoredTop sz="94660"/>
  </p:normalViewPr>
  <p:slideViewPr>
    <p:cSldViewPr snapToGrid="0">
      <p:cViewPr varScale="1">
        <p:scale>
          <a:sx n="57" d="100"/>
          <a:sy n="57" d="100"/>
        </p:scale>
        <p:origin x="78" y="13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C47A03-ED33-4C74-A767-1AE039CFBF55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7E404-90A8-479D-9C4E-3A43FC1E48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30268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:notes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2435" cy="457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None/>
            </a:pPr>
            <a:endParaRPr/>
          </a:p>
        </p:txBody>
      </p:sp>
      <p:sp>
        <p:nvSpPr>
          <p:cNvPr id="123" name="Google Shape;123;p1:notes"/>
          <p:cNvSpPr txBox="1">
            <a:spLocks noGrp="1"/>
          </p:cNvSpPr>
          <p:nvPr>
            <p:ph type="dt" idx="10"/>
          </p:nvPr>
        </p:nvSpPr>
        <p:spPr>
          <a:xfrm>
            <a:off x="3884930" y="0"/>
            <a:ext cx="2972435" cy="457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None/>
            </a:pPr>
            <a:r>
              <a:rPr lang="ko-KR" sz="1200" b="0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2022-03-26 (Sat)</a:t>
            </a:r>
            <a:endParaRPr sz="1200" b="0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4" name="Google Shape;124;p1:notes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5" name="Google Shape;12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7035" cy="41154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endParaRPr sz="1000" b="0" strike="noStrike" cap="none" dirty="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6" name="Google Shape;126;p1:notes"/>
          <p:cNvSpPr txBox="1">
            <a:spLocks noGrp="1"/>
          </p:cNvSpPr>
          <p:nvPr>
            <p:ph type="ftr" idx="11"/>
          </p:nvPr>
        </p:nvSpPr>
        <p:spPr>
          <a:xfrm>
            <a:off x="0" y="8685530"/>
            <a:ext cx="2972435" cy="457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None/>
            </a:pPr>
            <a:endParaRPr/>
          </a:p>
        </p:txBody>
      </p:sp>
      <p:sp>
        <p:nvSpPr>
          <p:cNvPr id="127" name="Google Shape;127;p1:notes"/>
          <p:cNvSpPr txBox="1">
            <a:spLocks noGrp="1"/>
          </p:cNvSpPr>
          <p:nvPr>
            <p:ph type="sldNum" idx="12"/>
          </p:nvPr>
        </p:nvSpPr>
        <p:spPr>
          <a:xfrm>
            <a:off x="3884930" y="8685530"/>
            <a:ext cx="2972435" cy="457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None/>
            </a:pPr>
            <a:fld id="{00000000-1234-1234-1234-123412341234}" type="slidenum">
              <a:rPr lang="en-US" altLang="ko-KR" sz="1200" b="0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fld>
            <a:endParaRPr sz="1200" b="0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0141095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3958D-9D30-437F-8F11-69E124E0CF27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513CD-645F-486C-BB45-E23B601201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383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3958D-9D30-437F-8F11-69E124E0CF27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513CD-645F-486C-BB45-E23B601201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5686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3958D-9D30-437F-8F11-69E124E0CF27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513CD-645F-486C-BB45-E23B601201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5916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3958D-9D30-437F-8F11-69E124E0CF27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513CD-645F-486C-BB45-E23B601201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59284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3958D-9D30-437F-8F11-69E124E0CF27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513CD-645F-486C-BB45-E23B601201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22574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3958D-9D30-437F-8F11-69E124E0CF27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513CD-645F-486C-BB45-E23B601201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4143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3958D-9D30-437F-8F11-69E124E0CF27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513CD-645F-486C-BB45-E23B601201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5949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3958D-9D30-437F-8F11-69E124E0CF27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513CD-645F-486C-BB45-E23B601201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92799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3958D-9D30-437F-8F11-69E124E0CF27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513CD-645F-486C-BB45-E23B601201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10117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3958D-9D30-437F-8F11-69E124E0CF27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513CD-645F-486C-BB45-E23B601201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16723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3958D-9D30-437F-8F11-69E124E0CF27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513CD-645F-486C-BB45-E23B601201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64698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D3958D-9D30-437F-8F11-69E124E0CF27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7513CD-645F-486C-BB45-E23B601201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6227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8"/>
          <p:cNvSpPr txBox="1"/>
          <p:nvPr/>
        </p:nvSpPr>
        <p:spPr>
          <a:xfrm>
            <a:off x="1524000" y="1778000"/>
            <a:ext cx="8915400" cy="9044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133" tIns="51633" rIns="104133" bIns="51633" anchor="t" anchorCtr="0">
            <a:spAutoFit/>
          </a:bodyPr>
          <a:lstStyle/>
          <a:p>
            <a:pPr algn="ctr">
              <a:buClr>
                <a:schemeClr val="lt1"/>
              </a:buClr>
              <a:buSzPts val="3900"/>
            </a:pPr>
            <a:r>
              <a:rPr lang="en-US" altLang="ko-KR" sz="5200" b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HEXA </a:t>
            </a:r>
            <a:r>
              <a:rPr lang="ko-KR" altLang="en-US" sz="5200" b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프로세스 흐름도</a:t>
            </a:r>
            <a:endParaRPr sz="5200" b="1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aphicFrame>
        <p:nvGraphicFramePr>
          <p:cNvPr id="130" name="Google Shape;130;p18"/>
          <p:cNvGraphicFramePr/>
          <p:nvPr/>
        </p:nvGraphicFramePr>
        <p:xfrm>
          <a:off x="6640407" y="4893733"/>
          <a:ext cx="5183266" cy="147660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5916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16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106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Malgun Gothic"/>
                        <a:buNone/>
                      </a:pPr>
                      <a:r>
                        <a:rPr lang="ko-KR" sz="2400" b="0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문서관리번호</a:t>
                      </a:r>
                      <a:endParaRPr sz="2400" b="0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33" marR="121933" marT="60967" marB="60967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5977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Malgun Gothic"/>
                        <a:buNone/>
                      </a:pPr>
                      <a:endParaRPr sz="1300" b="0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33" marR="121933" marT="60967" marB="60967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597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446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Malgun Gothic"/>
                        <a:buNone/>
                      </a:pPr>
                      <a:r>
                        <a:rPr lang="ko-KR" sz="2400" b="0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작    성    일</a:t>
                      </a:r>
                      <a:endParaRPr sz="2400" b="0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33" marR="121933" marT="60967" marB="60967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5977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Malgun Gothic"/>
                        <a:buNone/>
                      </a:pPr>
                      <a:r>
                        <a:rPr lang="ko-KR" sz="2400" b="0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2022. 03. 22</a:t>
                      </a:r>
                      <a:endParaRPr sz="2400" b="0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33" marR="121933" marT="60967" marB="60967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597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106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Malgun Gothic"/>
                        <a:buNone/>
                      </a:pPr>
                      <a:r>
                        <a:rPr lang="ko-KR" sz="2400" b="0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           안</a:t>
                      </a:r>
                      <a:endParaRPr sz="2400" b="0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33" marR="121933" marT="60967" marB="60967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5977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Malgun Gothic"/>
                        <a:buNone/>
                      </a:pPr>
                      <a:r>
                        <a:rPr lang="ko-KR" sz="2400" b="0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     반     본</a:t>
                      </a:r>
                      <a:endParaRPr sz="2400" b="0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33" marR="121933" marT="60967" marB="60967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597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1" name="Google Shape;131;p18"/>
          <p:cNvSpPr/>
          <p:nvPr/>
        </p:nvSpPr>
        <p:spPr>
          <a:xfrm>
            <a:off x="100" y="0"/>
            <a:ext cx="12192000" cy="6880000"/>
          </a:xfrm>
          <a:prstGeom prst="rect">
            <a:avLst/>
          </a:prstGeom>
          <a:solidFill>
            <a:srgbClr val="0070C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/>
          </a:p>
        </p:txBody>
      </p:sp>
      <p:sp>
        <p:nvSpPr>
          <p:cNvPr id="132" name="Google Shape;132;p18"/>
          <p:cNvSpPr txBox="1"/>
          <p:nvPr/>
        </p:nvSpPr>
        <p:spPr>
          <a:xfrm>
            <a:off x="1524000" y="2570480"/>
            <a:ext cx="8915600" cy="1499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133" tIns="51633" rIns="104133" bIns="51633" anchor="t" anchorCtr="0">
            <a:spAutoFit/>
          </a:bodyPr>
          <a:lstStyle/>
          <a:p>
            <a:pPr algn="ctr">
              <a:buClr>
                <a:schemeClr val="lt1"/>
              </a:buClr>
              <a:buSzPts val="3900"/>
            </a:pPr>
            <a:r>
              <a:rPr lang="ko-KR" altLang="en-US" sz="4267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유기동물 보호소 </a:t>
            </a:r>
            <a:r>
              <a:rPr lang="ko-KR" altLang="en-US" sz="4267" b="1" dirty="0" smtClean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관제 </a:t>
            </a:r>
            <a:r>
              <a:rPr lang="ko-KR" altLang="en-US" sz="4267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시스템</a:t>
            </a:r>
            <a:r>
              <a:rPr lang="en-US" altLang="ko-KR" sz="4267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altLang="ko-KR" sz="4800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/>
            </a:r>
            <a:br>
              <a:rPr lang="en-US" altLang="ko-KR" sz="4800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ko-KR" altLang="en-US" sz="4800" b="1" dirty="0" smtClean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개념</a:t>
            </a:r>
            <a:r>
              <a:rPr lang="en-US" altLang="ko-KR" sz="4800" b="1" dirty="0" smtClean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ERD</a:t>
            </a:r>
            <a:endParaRPr sz="4800" b="1" dirty="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aphicFrame>
        <p:nvGraphicFramePr>
          <p:cNvPr id="133" name="Google Shape;133;p18"/>
          <p:cNvGraphicFramePr/>
          <p:nvPr>
            <p:extLst>
              <p:ext uri="{D42A27DB-BD31-4B8C-83A1-F6EECF244321}">
                <p14:modId xmlns:p14="http://schemas.microsoft.com/office/powerpoint/2010/main" val="3969971407"/>
              </p:ext>
            </p:extLst>
          </p:nvPr>
        </p:nvGraphicFramePr>
        <p:xfrm>
          <a:off x="6640407" y="4893733"/>
          <a:ext cx="5183266" cy="147660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5916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16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106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Malgun Gothic"/>
                        <a:buNone/>
                      </a:pPr>
                      <a:r>
                        <a:rPr lang="ko-KR" sz="2400" b="0" u="none" strike="noStrike" cap="none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문서관리번호</a:t>
                      </a:r>
                      <a:endParaRPr sz="2400" b="0" u="none" strike="noStrike" cap="none" dirty="0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33" marR="121933" marT="60967" marB="60967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Malgun Gothic"/>
                        <a:buNone/>
                      </a:pPr>
                      <a:endParaRPr sz="1300" b="0" u="none" strike="noStrike" cap="none" dirty="0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33" marR="121933" marT="60967" marB="60967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446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Malgun Gothic"/>
                        <a:buNone/>
                      </a:pPr>
                      <a:r>
                        <a:rPr lang="ko-KR" sz="2400" b="0" u="none" strike="noStrike" cap="none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작    성    일</a:t>
                      </a:r>
                      <a:endParaRPr sz="2400" b="0" u="none" strike="noStrike" cap="none" dirty="0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33" marR="121933" marT="60967" marB="60967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Malgun Gothic"/>
                        <a:buNone/>
                      </a:pPr>
                      <a:r>
                        <a:rPr lang="en-US" sz="2400" b="0" u="none" strike="noStrike" cap="none" smtClean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2026.08.26</a:t>
                      </a:r>
                      <a:endParaRPr sz="2400" b="0" u="none" strike="noStrike" cap="none" dirty="0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33" marR="121933" marT="60967" marB="60967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106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Malgun Gothic"/>
                        <a:buNone/>
                      </a:pPr>
                      <a:r>
                        <a:rPr lang="ko-KR" sz="2400" b="0" u="none" strike="noStrike" cap="none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           안</a:t>
                      </a:r>
                      <a:endParaRPr sz="2400" b="0" u="none" strike="noStrike" cap="none" dirty="0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33" marR="121933" marT="60967" marB="60967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Malgun Gothic"/>
                        <a:buNone/>
                      </a:pPr>
                      <a:r>
                        <a:rPr lang="ko-KR" sz="2400" b="0" u="none" strike="noStrike" cap="none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     반     본</a:t>
                      </a:r>
                      <a:endParaRPr sz="2400" b="0" u="none" strike="noStrike" cap="none" dirty="0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33" marR="121933" marT="60967" marB="60967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" name="표 1"/>
          <p:cNvGraphicFramePr>
            <a:graphicFrameLocks noGrp="1"/>
          </p:cNvGraphicFramePr>
          <p:nvPr>
            <p:extLst/>
          </p:nvPr>
        </p:nvGraphicFramePr>
        <p:xfrm>
          <a:off x="8762422" y="212035"/>
          <a:ext cx="3061251" cy="105629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20417">
                  <a:extLst>
                    <a:ext uri="{9D8B030D-6E8A-4147-A177-3AD203B41FA5}">
                      <a16:colId xmlns:a16="http://schemas.microsoft.com/office/drawing/2014/main" val="1582851726"/>
                    </a:ext>
                  </a:extLst>
                </a:gridCol>
                <a:gridCol w="1020417">
                  <a:extLst>
                    <a:ext uri="{9D8B030D-6E8A-4147-A177-3AD203B41FA5}">
                      <a16:colId xmlns:a16="http://schemas.microsoft.com/office/drawing/2014/main" val="993078549"/>
                    </a:ext>
                  </a:extLst>
                </a:gridCol>
                <a:gridCol w="1020417">
                  <a:extLst>
                    <a:ext uri="{9D8B030D-6E8A-4147-A177-3AD203B41FA5}">
                      <a16:colId xmlns:a16="http://schemas.microsoft.com/office/drawing/2014/main" val="285379991"/>
                    </a:ext>
                  </a:extLst>
                </a:gridCol>
              </a:tblGrid>
              <a:tr h="38139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바탕" panose="02030600000101010101" pitchFamily="18" charset="-127"/>
                          <a:ea typeface="바탕" panose="02030600000101010101" pitchFamily="18" charset="-127"/>
                        </a:rPr>
                        <a:t>담임</a:t>
                      </a:r>
                      <a:endParaRPr lang="ko-KR" altLang="en-US" sz="1300" kern="0" spc="0" dirty="0">
                        <a:solidFill>
                          <a:srgbClr val="000000"/>
                        </a:solidFill>
                        <a:effectLst/>
                        <a:latin typeface="바탕" panose="02030600000101010101" pitchFamily="18" charset="-127"/>
                      </a:endParaRPr>
                    </a:p>
                  </a:txBody>
                  <a:tcPr marL="23876" marR="23876" marT="23876" marB="23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>
                          <a:solidFill>
                            <a:srgbClr val="000000"/>
                          </a:solidFill>
                          <a:effectLst/>
                          <a:latin typeface="바탕" panose="02030600000101010101" pitchFamily="18" charset="-127"/>
                          <a:ea typeface="바탕" panose="02030600000101010101" pitchFamily="18" charset="-127"/>
                        </a:rPr>
                        <a:t>이사</a:t>
                      </a:r>
                      <a:endParaRPr lang="ko-KR" altLang="en-US" sz="1300" kern="0" spc="0">
                        <a:solidFill>
                          <a:srgbClr val="000000"/>
                        </a:solidFill>
                        <a:effectLst/>
                        <a:latin typeface="바탕" panose="02030600000101010101" pitchFamily="18" charset="-127"/>
                      </a:endParaRPr>
                    </a:p>
                  </a:txBody>
                  <a:tcPr marL="23876" marR="23876" marT="23876" marB="23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바탕" panose="02030600000101010101" pitchFamily="18" charset="-127"/>
                          <a:ea typeface="바탕" panose="02030600000101010101" pitchFamily="18" charset="-127"/>
                        </a:rPr>
                        <a:t>대표</a:t>
                      </a:r>
                      <a:endParaRPr lang="ko-KR" altLang="en-US" sz="1300" kern="0" spc="0" dirty="0">
                        <a:solidFill>
                          <a:srgbClr val="000000"/>
                        </a:solidFill>
                        <a:effectLst/>
                        <a:latin typeface="바탕" panose="02030600000101010101" pitchFamily="18" charset="-127"/>
                      </a:endParaRPr>
                    </a:p>
                  </a:txBody>
                  <a:tcPr marL="23876" marR="23876" marT="23876" marB="23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224282"/>
                  </a:ext>
                </a:extLst>
              </a:tr>
              <a:tr h="674904">
                <a:tc>
                  <a:txBody>
                    <a:bodyPr/>
                    <a:lstStyle/>
                    <a:p>
                      <a:pPr latinLnBrk="1"/>
                      <a:endParaRPr lang="ko-KR" altLang="en-US" sz="2400"/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37485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61960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6342634"/>
              </p:ext>
            </p:extLst>
          </p:nvPr>
        </p:nvGraphicFramePr>
        <p:xfrm>
          <a:off x="0" y="0"/>
          <a:ext cx="12191999" cy="6857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6970">
                  <a:extLst>
                    <a:ext uri="{9D8B030D-6E8A-4147-A177-3AD203B41FA5}">
                      <a16:colId xmlns:a16="http://schemas.microsoft.com/office/drawing/2014/main" val="1965680581"/>
                    </a:ext>
                  </a:extLst>
                </a:gridCol>
                <a:gridCol w="4886943">
                  <a:extLst>
                    <a:ext uri="{9D8B030D-6E8A-4147-A177-3AD203B41FA5}">
                      <a16:colId xmlns:a16="http://schemas.microsoft.com/office/drawing/2014/main" val="253795851"/>
                    </a:ext>
                  </a:extLst>
                </a:gridCol>
                <a:gridCol w="1806487">
                  <a:extLst>
                    <a:ext uri="{9D8B030D-6E8A-4147-A177-3AD203B41FA5}">
                      <a16:colId xmlns:a16="http://schemas.microsoft.com/office/drawing/2014/main" val="1335425459"/>
                    </a:ext>
                  </a:extLst>
                </a:gridCol>
                <a:gridCol w="3911599">
                  <a:extLst>
                    <a:ext uri="{9D8B030D-6E8A-4147-A177-3AD203B41FA5}">
                      <a16:colId xmlns:a16="http://schemas.microsoft.com/office/drawing/2014/main" val="2210331486"/>
                    </a:ext>
                  </a:extLst>
                </a:gridCol>
              </a:tblGrid>
              <a:tr h="37562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엔티티명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속성명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키 구분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설명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07648070"/>
                  </a:ext>
                </a:extLst>
              </a:tr>
              <a:tr h="375628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 smtClean="0">
                          <a:solidFill>
                            <a:schemeClr val="tx1"/>
                          </a:solidFill>
                        </a:rPr>
                        <a:t>드론</a:t>
                      </a:r>
                      <a:endParaRPr lang="ko-KR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rgbClr val="0070C0"/>
                          </a:solidFill>
                        </a:rPr>
                        <a:t>드론</a:t>
                      </a:r>
                      <a:r>
                        <a:rPr lang="en-US" altLang="ko-KR" sz="1800" dirty="0" smtClean="0">
                          <a:solidFill>
                            <a:srgbClr val="0070C0"/>
                          </a:solidFill>
                        </a:rPr>
                        <a:t>ID</a:t>
                      </a:r>
                      <a:endParaRPr lang="ko-KR" altLang="en-US" sz="18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/>
                        <a:t>드론 고유 식별자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51178"/>
                  </a:ext>
                </a:extLst>
              </a:tr>
              <a:tr h="375628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accent2"/>
                          </a:solidFill>
                        </a:rPr>
                        <a:t>담당자 사번</a:t>
                      </a:r>
                      <a:endParaRPr lang="ko-KR" altLang="en-US" sz="1800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FK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/>
                        <a:t>[</a:t>
                      </a:r>
                      <a:r>
                        <a:rPr lang="ko-KR" altLang="en-US" sz="1800" dirty="0" smtClean="0"/>
                        <a:t>직원 계정</a:t>
                      </a:r>
                      <a:r>
                        <a:rPr lang="en-US" altLang="ko-KR" sz="1800" dirty="0" smtClean="0"/>
                        <a:t>] </a:t>
                      </a:r>
                      <a:r>
                        <a:rPr lang="ko-KR" altLang="en-US" sz="1800" dirty="0" smtClean="0"/>
                        <a:t>테이블 참조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3380829"/>
                  </a:ext>
                </a:extLst>
              </a:tr>
              <a:tr h="375628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 smtClean="0">
                          <a:solidFill>
                            <a:schemeClr val="tx1"/>
                          </a:solidFill>
                        </a:rPr>
                        <a:t>비행 이력</a:t>
                      </a:r>
                      <a:endParaRPr lang="ko-KR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rgbClr val="0070C0"/>
                          </a:solidFill>
                        </a:rPr>
                        <a:t>비행 이력 시퀀스</a:t>
                      </a:r>
                      <a:endParaRPr lang="ko-KR" altLang="en-US" sz="18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비행 이력 고유번호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12487455"/>
                  </a:ext>
                </a:extLst>
              </a:tr>
              <a:tr h="375628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accent2"/>
                          </a:solidFill>
                        </a:rPr>
                        <a:t>드론</a:t>
                      </a:r>
                      <a:r>
                        <a:rPr lang="en-US" altLang="ko-KR" sz="1800" dirty="0" smtClean="0">
                          <a:solidFill>
                            <a:schemeClr val="accent2"/>
                          </a:solidFill>
                        </a:rPr>
                        <a:t>ID</a:t>
                      </a:r>
                      <a:endParaRPr lang="ko-KR" altLang="en-US" sz="1800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FK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드론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]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테이블 참조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9956709"/>
                  </a:ext>
                </a:extLst>
              </a:tr>
              <a:tr h="65735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비행 시작일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비행 종료일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비행 시간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배터리 소모량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등록 일시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일반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비행 관련 상세 데이터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691151"/>
                  </a:ext>
                </a:extLst>
              </a:tr>
              <a:tr h="375628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 smtClean="0">
                          <a:solidFill>
                            <a:schemeClr val="tx1"/>
                          </a:solidFill>
                        </a:rPr>
                        <a:t>탐지 이력</a:t>
                      </a:r>
                      <a:endParaRPr lang="ko-KR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rgbClr val="0070C0"/>
                          </a:solidFill>
                        </a:rPr>
                        <a:t>탐지 이력 시퀀스</a:t>
                      </a:r>
                      <a:endParaRPr lang="ko-KR" altLang="en-US" sz="18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ko-KR" altLang="en-US" sz="18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탐지 이력 고유 번호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4239299"/>
                  </a:ext>
                </a:extLst>
              </a:tr>
              <a:tr h="93907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 err="1" smtClean="0">
                          <a:solidFill>
                            <a:schemeClr val="accent2"/>
                          </a:solidFill>
                        </a:rPr>
                        <a:t>드론</a:t>
                      </a:r>
                      <a:r>
                        <a:rPr lang="en-US" altLang="ko-KR" sz="1800" dirty="0" smtClean="0">
                          <a:solidFill>
                            <a:schemeClr val="accent2"/>
                          </a:solidFill>
                        </a:rPr>
                        <a:t>ID, </a:t>
                      </a:r>
                      <a:r>
                        <a:rPr lang="ko-KR" altLang="en-US" sz="1800" dirty="0" err="1" smtClean="0">
                          <a:solidFill>
                            <a:schemeClr val="accent2"/>
                          </a:solidFill>
                        </a:rPr>
                        <a:t>축종</a:t>
                      </a:r>
                      <a:r>
                        <a:rPr lang="ko-KR" altLang="en-US" sz="1800" dirty="0" smtClean="0">
                          <a:solidFill>
                            <a:schemeClr val="accent2"/>
                          </a:solidFill>
                        </a:rPr>
                        <a:t> 구분 코드</a:t>
                      </a:r>
                      <a:r>
                        <a:rPr lang="en-US" altLang="ko-KR" sz="1800" dirty="0" smtClean="0">
                          <a:solidFill>
                            <a:schemeClr val="accent2"/>
                          </a:solidFill>
                        </a:rPr>
                        <a:t>,</a:t>
                      </a:r>
                      <a:r>
                        <a:rPr lang="en-US" altLang="ko-KR" sz="1800" baseline="0" dirty="0" smtClean="0">
                          <a:solidFill>
                            <a:schemeClr val="accent2"/>
                          </a:solidFill>
                        </a:rPr>
                        <a:t> </a:t>
                      </a:r>
                      <a:r>
                        <a:rPr lang="ko-KR" altLang="en-US" sz="1800" baseline="0" dirty="0" smtClean="0">
                          <a:solidFill>
                            <a:schemeClr val="accent2"/>
                          </a:solidFill>
                        </a:rPr>
                        <a:t>동물 식별 </a:t>
                      </a:r>
                      <a:r>
                        <a:rPr lang="en-US" altLang="ko-KR" sz="1800" baseline="0" dirty="0" smtClean="0">
                          <a:solidFill>
                            <a:schemeClr val="accent2"/>
                          </a:solidFill>
                        </a:rPr>
                        <a:t>ID</a:t>
                      </a:r>
                      <a:endParaRPr lang="ko-KR" altLang="en-US" sz="1800" dirty="0" smtClean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FK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드론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]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 테이블 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참조</a:t>
                      </a:r>
                      <a:endParaRPr lang="en-US" altLang="ko-KR" sz="1800" baseline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공통 코드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] 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테이블 참조</a:t>
                      </a:r>
                      <a:endParaRPr lang="en-US" altLang="ko-KR" sz="1800" baseline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동물 관리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0090131"/>
                  </a:ext>
                </a:extLst>
              </a:tr>
              <a:tr h="93907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탐지 시각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스냅샷 이미지 경로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</a:p>
                    <a:p>
                      <a:pPr algn="l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위험도 등급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로그 적재 일시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현장 조치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조치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사유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dirty="0" err="1" smtClean="0">
                          <a:solidFill>
                            <a:schemeClr val="tx1"/>
                          </a:solidFill>
                        </a:rPr>
                        <a:t>개채수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일반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탐지 및 축종 정보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370403"/>
                  </a:ext>
                </a:extLst>
              </a:tr>
              <a:tr h="375628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 smtClean="0">
                          <a:solidFill>
                            <a:schemeClr val="tx1"/>
                          </a:solidFill>
                        </a:rPr>
                        <a:t>경보 이력</a:t>
                      </a:r>
                      <a:endParaRPr lang="ko-KR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rgbClr val="0070C0"/>
                          </a:solidFill>
                        </a:rPr>
                        <a:t>경보 이력 시퀀스</a:t>
                      </a:r>
                      <a:endParaRPr lang="ko-KR" altLang="en-US" sz="18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경보 이력 고유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 번호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38150424"/>
                  </a:ext>
                </a:extLst>
              </a:tr>
              <a:tr h="1035759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accent2"/>
                          </a:solidFill>
                        </a:rPr>
                        <a:t>탐지 이력 </a:t>
                      </a:r>
                      <a:r>
                        <a:rPr lang="ko-KR" altLang="en-US" sz="1800" dirty="0" smtClean="0">
                          <a:solidFill>
                            <a:schemeClr val="accent2"/>
                          </a:solidFill>
                        </a:rPr>
                        <a:t>시퀀스</a:t>
                      </a:r>
                      <a:r>
                        <a:rPr lang="en-US" altLang="ko-KR" sz="1800" dirty="0" smtClean="0">
                          <a:solidFill>
                            <a:schemeClr val="accent2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accent2"/>
                          </a:solidFill>
                        </a:rPr>
                        <a:t>이상</a:t>
                      </a:r>
                      <a:r>
                        <a:rPr lang="ko-KR" altLang="en-US" sz="1800" baseline="0" dirty="0" smtClean="0">
                          <a:solidFill>
                            <a:schemeClr val="accent2"/>
                          </a:solidFill>
                        </a:rPr>
                        <a:t> 객체 탐지 이력 시퀀스</a:t>
                      </a:r>
                      <a:r>
                        <a:rPr lang="en-US" altLang="ko-KR" sz="1800" baseline="0" dirty="0" smtClean="0">
                          <a:solidFill>
                            <a:schemeClr val="accent2"/>
                          </a:solidFill>
                        </a:rPr>
                        <a:t>, </a:t>
                      </a:r>
                      <a:r>
                        <a:rPr lang="ko-KR" altLang="en-US" sz="1800" baseline="0" dirty="0" smtClean="0">
                          <a:solidFill>
                            <a:schemeClr val="accent2"/>
                          </a:solidFill>
                        </a:rPr>
                        <a:t>경보 대상 구분</a:t>
                      </a:r>
                      <a:r>
                        <a:rPr lang="en-US" altLang="ko-KR" sz="1800" baseline="0" dirty="0" smtClean="0">
                          <a:solidFill>
                            <a:schemeClr val="accent2"/>
                          </a:solidFill>
                        </a:rPr>
                        <a:t>,</a:t>
                      </a:r>
                      <a:endParaRPr lang="ko-KR" altLang="en-US" sz="1800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FK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탐지 이력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]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테이블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참조</a:t>
                      </a:r>
                      <a:endParaRPr lang="en-US" altLang="ko-KR" sz="18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이상 객체 탐지 이력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]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테이블 참조</a:t>
                      </a:r>
                      <a:endParaRPr lang="en-US" altLang="ko-KR" sz="18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공통 코드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]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 테이블 참조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4626364"/>
                  </a:ext>
                </a:extLst>
              </a:tr>
              <a:tr h="65735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알림 내용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전송 성공 여부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경보 발령 및 </a:t>
                      </a:r>
                      <a:endParaRPr lang="en-US" altLang="ko-KR" sz="18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전송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일시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경보 대상 구분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일반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푸시 알림 및 전송 결과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8325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3209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1216056"/>
              </p:ext>
            </p:extLst>
          </p:nvPr>
        </p:nvGraphicFramePr>
        <p:xfrm>
          <a:off x="0" y="0"/>
          <a:ext cx="12191999" cy="68579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6970">
                  <a:extLst>
                    <a:ext uri="{9D8B030D-6E8A-4147-A177-3AD203B41FA5}">
                      <a16:colId xmlns:a16="http://schemas.microsoft.com/office/drawing/2014/main" val="1965680581"/>
                    </a:ext>
                  </a:extLst>
                </a:gridCol>
                <a:gridCol w="4886943">
                  <a:extLst>
                    <a:ext uri="{9D8B030D-6E8A-4147-A177-3AD203B41FA5}">
                      <a16:colId xmlns:a16="http://schemas.microsoft.com/office/drawing/2014/main" val="253795851"/>
                    </a:ext>
                  </a:extLst>
                </a:gridCol>
                <a:gridCol w="1806487">
                  <a:extLst>
                    <a:ext uri="{9D8B030D-6E8A-4147-A177-3AD203B41FA5}">
                      <a16:colId xmlns:a16="http://schemas.microsoft.com/office/drawing/2014/main" val="1335425459"/>
                    </a:ext>
                  </a:extLst>
                </a:gridCol>
                <a:gridCol w="3911599">
                  <a:extLst>
                    <a:ext uri="{9D8B030D-6E8A-4147-A177-3AD203B41FA5}">
                      <a16:colId xmlns:a16="http://schemas.microsoft.com/office/drawing/2014/main" val="2210331486"/>
                    </a:ext>
                  </a:extLst>
                </a:gridCol>
              </a:tblGrid>
              <a:tr h="63570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엔티티명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속성명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키 구분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설명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07648070"/>
                  </a:ext>
                </a:extLst>
              </a:tr>
              <a:tr h="635703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 smtClean="0">
                          <a:solidFill>
                            <a:schemeClr val="tx1"/>
                          </a:solidFill>
                        </a:rPr>
                        <a:t>동물 상세 </a:t>
                      </a:r>
                      <a:endParaRPr lang="en-US" altLang="ko-KR" sz="1800" b="1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800" b="1" dirty="0" smtClean="0">
                          <a:solidFill>
                            <a:schemeClr val="tx1"/>
                          </a:solidFill>
                        </a:rPr>
                        <a:t>관리</a:t>
                      </a:r>
                      <a:endParaRPr lang="ko-KR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rgbClr val="0070C0"/>
                          </a:solidFill>
                        </a:rPr>
                        <a:t>동물 식별 시퀀스</a:t>
                      </a:r>
                      <a:endParaRPr lang="ko-KR" altLang="en-US" sz="18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동물 고유 </a:t>
                      </a:r>
                      <a:r>
                        <a:rPr lang="ko-KR" altLang="en-US" sz="1800" dirty="0" err="1" smtClean="0">
                          <a:solidFill>
                            <a:schemeClr val="tx1"/>
                          </a:solidFill>
                        </a:rPr>
                        <a:t>식별자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51178"/>
                  </a:ext>
                </a:extLst>
              </a:tr>
              <a:tr h="108325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err="1" smtClean="0">
                          <a:solidFill>
                            <a:schemeClr val="tx1"/>
                          </a:solidFill>
                        </a:rPr>
                        <a:t>축종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 구분 코드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품종 구분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동물 이름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입소 일자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보호 상태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일반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동물 상세 정보 입출력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26468701"/>
                  </a:ext>
                </a:extLst>
              </a:tr>
              <a:tr h="635703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 err="1" smtClean="0">
                          <a:solidFill>
                            <a:schemeClr val="tx1"/>
                          </a:solidFill>
                        </a:rPr>
                        <a:t>축종별</a:t>
                      </a:r>
                      <a:r>
                        <a:rPr lang="ko-KR" altLang="en-US" sz="1800" b="1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1800" b="1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800" b="1" dirty="0" err="1" smtClean="0">
                          <a:solidFill>
                            <a:schemeClr val="tx1"/>
                          </a:solidFill>
                        </a:rPr>
                        <a:t>개체수</a:t>
                      </a:r>
                      <a:r>
                        <a:rPr lang="ko-KR" altLang="en-US" sz="1800" b="1" dirty="0" smtClean="0">
                          <a:solidFill>
                            <a:schemeClr val="tx1"/>
                          </a:solidFill>
                        </a:rPr>
                        <a:t> 현황</a:t>
                      </a:r>
                      <a:endParaRPr lang="ko-KR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err="1" smtClean="0">
                          <a:solidFill>
                            <a:srgbClr val="0070C0"/>
                          </a:solidFill>
                        </a:rPr>
                        <a:t>개체수</a:t>
                      </a:r>
                      <a:r>
                        <a:rPr lang="ko-KR" altLang="en-US" sz="1800" dirty="0" smtClean="0">
                          <a:solidFill>
                            <a:srgbClr val="0070C0"/>
                          </a:solidFill>
                        </a:rPr>
                        <a:t> 현황 시퀀스</a:t>
                      </a:r>
                      <a:endParaRPr lang="ko-KR" altLang="en-US" sz="18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동물 </a:t>
                      </a:r>
                      <a:r>
                        <a:rPr lang="ko-KR" altLang="en-US" sz="1800" dirty="0" err="1" smtClean="0">
                          <a:solidFill>
                            <a:schemeClr val="tx1"/>
                          </a:solidFill>
                        </a:rPr>
                        <a:t>개체수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 고유 </a:t>
                      </a:r>
                      <a:r>
                        <a:rPr lang="ko-KR" altLang="en-US" sz="1800" dirty="0" err="1" smtClean="0">
                          <a:solidFill>
                            <a:schemeClr val="tx1"/>
                          </a:solidFill>
                        </a:rPr>
                        <a:t>식별자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12487455"/>
                  </a:ext>
                </a:extLst>
              </a:tr>
              <a:tr h="1336924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err="1" smtClean="0">
                          <a:solidFill>
                            <a:schemeClr val="tx1"/>
                          </a:solidFill>
                        </a:rPr>
                        <a:t>축종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 구분 코드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현재 보호 </a:t>
                      </a:r>
                      <a:r>
                        <a:rPr lang="ko-KR" altLang="en-US" sz="1800" dirty="0" err="1" smtClean="0">
                          <a:solidFill>
                            <a:schemeClr val="tx1"/>
                          </a:solidFill>
                        </a:rPr>
                        <a:t>개체수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최종 갱신 일지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일반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err="1" smtClean="0">
                          <a:solidFill>
                            <a:schemeClr val="tx1"/>
                          </a:solidFill>
                        </a:rPr>
                        <a:t>축종별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800" dirty="0" err="1" smtClean="0">
                          <a:solidFill>
                            <a:schemeClr val="tx1"/>
                          </a:solidFill>
                        </a:rPr>
                        <a:t>개체수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 구분을 위한 </a:t>
                      </a:r>
                      <a:endParaRPr lang="en-US" altLang="ko-KR" sz="18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정보 테이블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9956709"/>
                  </a:ext>
                </a:extLst>
              </a:tr>
              <a:tr h="94145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 smtClean="0">
                          <a:solidFill>
                            <a:schemeClr val="tx1"/>
                          </a:solidFill>
                        </a:rPr>
                        <a:t>이상 객체 상세 관리</a:t>
                      </a:r>
                      <a:endParaRPr lang="ko-KR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err="1" smtClean="0">
                          <a:solidFill>
                            <a:srgbClr val="0070C0"/>
                          </a:solidFill>
                        </a:rPr>
                        <a:t>이상객체</a:t>
                      </a:r>
                      <a:r>
                        <a:rPr lang="ko-KR" altLang="en-US" sz="1800" dirty="0" smtClean="0">
                          <a:solidFill>
                            <a:srgbClr val="0070C0"/>
                          </a:solidFill>
                        </a:rPr>
                        <a:t> 식별 시퀀스</a:t>
                      </a:r>
                      <a:endParaRPr lang="ko-KR" altLang="en-US" sz="18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ko-KR" altLang="en-US" sz="18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이상 객체 고유 </a:t>
                      </a:r>
                      <a:r>
                        <a:rPr lang="ko-KR" altLang="en-US" sz="1800" dirty="0" err="1" smtClean="0">
                          <a:solidFill>
                            <a:schemeClr val="tx1"/>
                          </a:solidFill>
                        </a:rPr>
                        <a:t>식별자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4239299"/>
                  </a:ext>
                </a:extLst>
              </a:tr>
              <a:tr h="158926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 smtClean="0">
                          <a:solidFill>
                            <a:schemeClr val="accent2"/>
                          </a:solidFill>
                        </a:rPr>
                        <a:t>이상</a:t>
                      </a:r>
                      <a:r>
                        <a:rPr lang="ko-KR" altLang="en-US" sz="1800" baseline="0" dirty="0" smtClean="0">
                          <a:solidFill>
                            <a:schemeClr val="accent2"/>
                          </a:solidFill>
                        </a:rPr>
                        <a:t> 객체 이름</a:t>
                      </a:r>
                      <a:r>
                        <a:rPr lang="en-US" altLang="ko-KR" sz="1800" baseline="0" dirty="0" smtClean="0">
                          <a:solidFill>
                            <a:schemeClr val="accent2"/>
                          </a:solidFill>
                        </a:rPr>
                        <a:t>, </a:t>
                      </a:r>
                      <a:r>
                        <a:rPr lang="ko-KR" altLang="en-US" sz="1800" baseline="0" dirty="0" smtClean="0">
                          <a:solidFill>
                            <a:schemeClr val="accent2"/>
                          </a:solidFill>
                        </a:rPr>
                        <a:t>등록일자</a:t>
                      </a:r>
                      <a:endParaRPr lang="ko-KR" altLang="en-US" sz="1800" dirty="0" smtClean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일반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이상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 객체 분류를 위한 이름 정보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00901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83319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3825599"/>
              </p:ext>
            </p:extLst>
          </p:nvPr>
        </p:nvGraphicFramePr>
        <p:xfrm>
          <a:off x="0" y="3"/>
          <a:ext cx="12192000" cy="6857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1291251990"/>
                    </a:ext>
                  </a:extLst>
                </a:gridCol>
                <a:gridCol w="4797513">
                  <a:extLst>
                    <a:ext uri="{9D8B030D-6E8A-4147-A177-3AD203B41FA5}">
                      <a16:colId xmlns:a16="http://schemas.microsoft.com/office/drawing/2014/main" val="2788089095"/>
                    </a:ext>
                  </a:extLst>
                </a:gridCol>
                <a:gridCol w="2542670">
                  <a:extLst>
                    <a:ext uri="{9D8B030D-6E8A-4147-A177-3AD203B41FA5}">
                      <a16:colId xmlns:a16="http://schemas.microsoft.com/office/drawing/2014/main" val="1918518430"/>
                    </a:ext>
                  </a:extLst>
                </a:gridCol>
                <a:gridCol w="3175417">
                  <a:extLst>
                    <a:ext uri="{9D8B030D-6E8A-4147-A177-3AD203B41FA5}">
                      <a16:colId xmlns:a16="http://schemas.microsoft.com/office/drawing/2014/main" val="3939090414"/>
                    </a:ext>
                  </a:extLst>
                </a:gridCol>
              </a:tblGrid>
              <a:tr h="6417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엔티티명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속성명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키 구분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설명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5910016"/>
                  </a:ext>
                </a:extLst>
              </a:tr>
              <a:tr h="64172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 smtClean="0">
                          <a:solidFill>
                            <a:schemeClr val="tx1"/>
                          </a:solidFill>
                        </a:rPr>
                        <a:t>직원 계정</a:t>
                      </a:r>
                      <a:endParaRPr lang="ko-KR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rgbClr val="0070C0"/>
                          </a:solidFill>
                        </a:rPr>
                        <a:t>사번</a:t>
                      </a:r>
                      <a:endParaRPr lang="ko-KR" altLang="en-US" sz="18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직원 고유 사원 번호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4171950"/>
                  </a:ext>
                </a:extLst>
              </a:tr>
              <a:tr h="112750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이름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소속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비밀번호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계정 상태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로그인 실패 횟수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마지막 비밀번호 변경일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마지막 로그인 일시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계정 등록일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일반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마스터 계정 정보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80608698"/>
                  </a:ext>
                </a:extLst>
              </a:tr>
              <a:tr h="641720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 smtClean="0">
                          <a:solidFill>
                            <a:schemeClr val="tx1"/>
                          </a:solidFill>
                        </a:rPr>
                        <a:t>로그인 이력</a:t>
                      </a:r>
                      <a:endParaRPr lang="ko-KR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rgbClr val="0070C0"/>
                          </a:solidFill>
                        </a:rPr>
                        <a:t>로그인 이력 시퀀스</a:t>
                      </a:r>
                      <a:endParaRPr lang="ko-KR" altLang="en-US" sz="18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로그인 로그 고유 번호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1149018"/>
                  </a:ext>
                </a:extLst>
              </a:tr>
              <a:tr h="64172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accent2"/>
                          </a:solidFill>
                        </a:rPr>
                        <a:t>사번</a:t>
                      </a:r>
                      <a:endParaRPr lang="ko-KR" altLang="en-US" sz="1800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FK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직원 계정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]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테이블 참조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279479"/>
                  </a:ext>
                </a:extLst>
              </a:tr>
              <a:tr h="78925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접속 요청 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IP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주소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로그인 결과 상태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로그인 시도 일시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일반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보안 및 감사용 로그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73800893"/>
                  </a:ext>
                </a:extLst>
              </a:tr>
              <a:tr h="1090925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 smtClean="0">
                          <a:solidFill>
                            <a:schemeClr val="tx1"/>
                          </a:solidFill>
                        </a:rPr>
                        <a:t>권한 관리</a:t>
                      </a:r>
                      <a:endParaRPr lang="ko-KR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rgbClr val="0070C0"/>
                          </a:solidFill>
                        </a:rPr>
                        <a:t>권한번호</a:t>
                      </a:r>
                      <a:endParaRPr lang="ko-KR" altLang="en-US" sz="18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ko-KR" altLang="en-US" sz="18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권한 고유 번호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1153222"/>
                  </a:ext>
                </a:extLst>
              </a:tr>
              <a:tr h="64172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 err="1" smtClean="0">
                          <a:solidFill>
                            <a:schemeClr val="tx1"/>
                          </a:solidFill>
                        </a:rPr>
                        <a:t>사번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FK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직원 계정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]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 테이블 참조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8834889"/>
                  </a:ext>
                </a:extLst>
              </a:tr>
              <a:tr h="64172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권한 명칭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일반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예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관제사 등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1460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62086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6718193"/>
              </p:ext>
            </p:extLst>
          </p:nvPr>
        </p:nvGraphicFramePr>
        <p:xfrm>
          <a:off x="0" y="2"/>
          <a:ext cx="12192000" cy="68579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7200">
                  <a:extLst>
                    <a:ext uri="{9D8B030D-6E8A-4147-A177-3AD203B41FA5}">
                      <a16:colId xmlns:a16="http://schemas.microsoft.com/office/drawing/2014/main" val="872039105"/>
                    </a:ext>
                  </a:extLst>
                </a:gridCol>
                <a:gridCol w="4746713">
                  <a:extLst>
                    <a:ext uri="{9D8B030D-6E8A-4147-A177-3AD203B41FA5}">
                      <a16:colId xmlns:a16="http://schemas.microsoft.com/office/drawing/2014/main" val="1182933672"/>
                    </a:ext>
                  </a:extLst>
                </a:gridCol>
                <a:gridCol w="2542670">
                  <a:extLst>
                    <a:ext uri="{9D8B030D-6E8A-4147-A177-3AD203B41FA5}">
                      <a16:colId xmlns:a16="http://schemas.microsoft.com/office/drawing/2014/main" val="2874944381"/>
                    </a:ext>
                  </a:extLst>
                </a:gridCol>
                <a:gridCol w="3175417">
                  <a:extLst>
                    <a:ext uri="{9D8B030D-6E8A-4147-A177-3AD203B41FA5}">
                      <a16:colId xmlns:a16="http://schemas.microsoft.com/office/drawing/2014/main" val="3391982074"/>
                    </a:ext>
                  </a:extLst>
                </a:gridCol>
              </a:tblGrid>
              <a:tr h="4794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엔티티명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속성명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키 구분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설명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7643997"/>
                  </a:ext>
                </a:extLst>
              </a:tr>
              <a:tr h="479440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 smtClean="0">
                          <a:solidFill>
                            <a:schemeClr val="tx1"/>
                          </a:solidFill>
                        </a:rPr>
                        <a:t>일일 리포트</a:t>
                      </a:r>
                      <a:endParaRPr lang="ko-KR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rgbClr val="0070C0"/>
                          </a:solidFill>
                        </a:rPr>
                        <a:t>리포트 시퀀스</a:t>
                      </a:r>
                      <a:endParaRPr lang="ko-KR" altLang="en-US" sz="18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smtClean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smtClean="0">
                          <a:solidFill>
                            <a:schemeClr val="tx1"/>
                          </a:solidFill>
                        </a:rPr>
                        <a:t>리포트 고유</a:t>
                      </a:r>
                      <a:r>
                        <a:rPr lang="ko-KR" altLang="en-US" sz="1800" baseline="0" smtClean="0">
                          <a:solidFill>
                            <a:schemeClr val="tx1"/>
                          </a:solidFill>
                        </a:rPr>
                        <a:t> 번호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8067168"/>
                  </a:ext>
                </a:extLst>
              </a:tr>
              <a:tr h="47944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err="1" smtClean="0">
                          <a:solidFill>
                            <a:schemeClr val="accent2"/>
                          </a:solidFill>
                        </a:rPr>
                        <a:t>사번</a:t>
                      </a:r>
                      <a:endParaRPr lang="ko-KR" altLang="en-US" sz="1800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FK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직원 계정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]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테이블 참조</a:t>
                      </a:r>
                      <a:endParaRPr lang="ko-KR" altLang="en-US" sz="18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8489099"/>
                  </a:ext>
                </a:extLst>
              </a:tr>
              <a:tr h="119860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리포트 기준 일자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당일 </a:t>
                      </a:r>
                      <a:r>
                        <a:rPr lang="ko-KR" altLang="en-US" sz="1800" baseline="0" dirty="0" err="1" smtClean="0">
                          <a:solidFill>
                            <a:schemeClr val="tx1"/>
                          </a:solidFill>
                        </a:rPr>
                        <a:t>드론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 비행시간 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당일 탐지 건수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조치 상태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확정 여부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집계 일시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수동 재실행 반영 일시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일반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일일 통계 및 마감 데이터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3112191"/>
                  </a:ext>
                </a:extLst>
              </a:tr>
              <a:tr h="479440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 smtClean="0">
                          <a:solidFill>
                            <a:schemeClr val="tx1"/>
                          </a:solidFill>
                        </a:rPr>
                        <a:t>PDF </a:t>
                      </a:r>
                      <a:r>
                        <a:rPr lang="ko-KR" altLang="en-US" sz="1800" b="1" dirty="0" smtClean="0">
                          <a:solidFill>
                            <a:schemeClr val="tx1"/>
                          </a:solidFill>
                        </a:rPr>
                        <a:t>캐싱 이력</a:t>
                      </a:r>
                      <a:endParaRPr lang="ko-KR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rgbClr val="0070C0"/>
                          </a:solidFill>
                        </a:rPr>
                        <a:t>PDF</a:t>
                      </a:r>
                      <a:r>
                        <a:rPr lang="en-US" altLang="ko-KR" sz="1800" baseline="0" dirty="0" smtClean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ko-KR" altLang="en-US" sz="1800" baseline="0" dirty="0" smtClean="0">
                          <a:solidFill>
                            <a:srgbClr val="0070C0"/>
                          </a:solidFill>
                        </a:rPr>
                        <a:t>캐시 식별자 시퀀스</a:t>
                      </a:r>
                      <a:endParaRPr lang="ko-KR" altLang="en-US" sz="18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캐시 고유 번호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1965011"/>
                  </a:ext>
                </a:extLst>
              </a:tr>
              <a:tr h="4794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accent2"/>
                          </a:solidFill>
                        </a:rPr>
                        <a:t>리포트 시퀀스</a:t>
                      </a:r>
                      <a:endParaRPr lang="ko-KR" altLang="en-US" sz="1800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FK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/>
                        <a:t>전자결재 일일 리포트 연동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25722207"/>
                  </a:ext>
                </a:extLst>
              </a:tr>
              <a:tr h="839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PDF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저장 파일 경로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PDF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생성 상태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</a:p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PDF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생성 및 캐싱 일시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일반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리포트 다운로드 최적화용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4842134"/>
                  </a:ext>
                </a:extLst>
              </a:tr>
              <a:tr h="479440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 smtClean="0">
                          <a:solidFill>
                            <a:schemeClr val="tx1"/>
                          </a:solidFill>
                        </a:rPr>
                        <a:t>결재 관리 이력</a:t>
                      </a:r>
                      <a:endParaRPr lang="ko-KR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rgbClr val="0070C0"/>
                          </a:solidFill>
                        </a:rPr>
                        <a:t>전자 결재 시퀀스</a:t>
                      </a:r>
                      <a:endParaRPr lang="ko-KR" altLang="en-US" sz="18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드론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]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테이블 참조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52235211"/>
                  </a:ext>
                </a:extLst>
              </a:tr>
              <a:tr h="74513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 err="1" smtClean="0">
                          <a:solidFill>
                            <a:schemeClr val="accent2"/>
                          </a:solidFill>
                        </a:rPr>
                        <a:t>기안자</a:t>
                      </a:r>
                      <a:r>
                        <a:rPr lang="ko-KR" altLang="en-US" sz="1800" dirty="0" smtClean="0">
                          <a:solidFill>
                            <a:schemeClr val="accent2"/>
                          </a:solidFill>
                        </a:rPr>
                        <a:t> </a:t>
                      </a:r>
                      <a:r>
                        <a:rPr lang="ko-KR" altLang="en-US" sz="1800" dirty="0" err="1" smtClean="0">
                          <a:solidFill>
                            <a:schemeClr val="accent2"/>
                          </a:solidFill>
                        </a:rPr>
                        <a:t>사번</a:t>
                      </a:r>
                      <a:r>
                        <a:rPr lang="en-US" altLang="ko-KR" sz="1800" dirty="0" smtClean="0">
                          <a:solidFill>
                            <a:schemeClr val="accent2"/>
                          </a:solidFill>
                        </a:rPr>
                        <a:t>,</a:t>
                      </a:r>
                      <a:r>
                        <a:rPr lang="ko-KR" altLang="en-US" sz="1800" dirty="0" smtClean="0">
                          <a:solidFill>
                            <a:schemeClr val="accent2"/>
                          </a:solidFill>
                        </a:rPr>
                        <a:t> 관리자 </a:t>
                      </a:r>
                      <a:r>
                        <a:rPr lang="ko-KR" altLang="en-US" sz="1800" dirty="0" err="1" smtClean="0">
                          <a:solidFill>
                            <a:schemeClr val="accent2"/>
                          </a:solidFill>
                        </a:rPr>
                        <a:t>사번</a:t>
                      </a:r>
                      <a:r>
                        <a:rPr lang="en-US" altLang="ko-KR" sz="1800" dirty="0" smtClean="0">
                          <a:solidFill>
                            <a:schemeClr val="accent2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accent2"/>
                          </a:solidFill>
                        </a:rPr>
                        <a:t>리포트 시퀀스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FK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직원 계정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]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테이블 참조</a:t>
                      </a:r>
                      <a:endParaRPr lang="en-US" altLang="ko-KR" sz="18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일일 리포트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]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테이블 참조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9781523"/>
                  </a:ext>
                </a:extLst>
              </a:tr>
              <a:tr h="119860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결재 상태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반려 사유 내용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관리자 서명 여부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</a:p>
                    <a:p>
                      <a:pPr algn="l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최종 상신 기안 일시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최종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 승인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반려 완료 일시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일반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전자 결재 진행 </a:t>
                      </a:r>
                      <a:endParaRPr lang="en-US" altLang="ko-KR" sz="18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프로세스 데이터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59787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18735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9915113"/>
              </p:ext>
            </p:extLst>
          </p:nvPr>
        </p:nvGraphicFramePr>
        <p:xfrm>
          <a:off x="0" y="2"/>
          <a:ext cx="12192000" cy="6857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7200">
                  <a:extLst>
                    <a:ext uri="{9D8B030D-6E8A-4147-A177-3AD203B41FA5}">
                      <a16:colId xmlns:a16="http://schemas.microsoft.com/office/drawing/2014/main" val="3348895211"/>
                    </a:ext>
                  </a:extLst>
                </a:gridCol>
                <a:gridCol w="4746713">
                  <a:extLst>
                    <a:ext uri="{9D8B030D-6E8A-4147-A177-3AD203B41FA5}">
                      <a16:colId xmlns:a16="http://schemas.microsoft.com/office/drawing/2014/main" val="3977438207"/>
                    </a:ext>
                  </a:extLst>
                </a:gridCol>
                <a:gridCol w="1984287">
                  <a:extLst>
                    <a:ext uri="{9D8B030D-6E8A-4147-A177-3AD203B41FA5}">
                      <a16:colId xmlns:a16="http://schemas.microsoft.com/office/drawing/2014/main" val="1561423734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278188714"/>
                    </a:ext>
                  </a:extLst>
                </a:gridCol>
              </a:tblGrid>
              <a:tr h="669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엔티티명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속성명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키 구분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설명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2997235"/>
                  </a:ext>
                </a:extLst>
              </a:tr>
              <a:tr h="669073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tx1"/>
                          </a:solidFill>
                        </a:rPr>
                        <a:t>인수인계 이력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aseline="0" dirty="0" smtClean="0">
                          <a:solidFill>
                            <a:srgbClr val="0070C0"/>
                          </a:solidFill>
                        </a:rPr>
                        <a:t>인수인계 시퀀스</a:t>
                      </a:r>
                      <a:endParaRPr lang="ko-KR" altLang="en-US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인수인계 고유 번호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6799171"/>
                  </a:ext>
                </a:extLst>
              </a:tr>
              <a:tr h="66907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accent2"/>
                          </a:solidFill>
                        </a:rPr>
                        <a:t>인계자 사번</a:t>
                      </a:r>
                      <a:endParaRPr lang="ko-KR" alt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FK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직원 계정</a:t>
                      </a: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]</a:t>
                      </a:r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테이블 참조</a:t>
                      </a: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전임자</a:t>
                      </a: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78830"/>
                  </a:ext>
                </a:extLst>
              </a:tr>
              <a:tr h="66907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accent2"/>
                          </a:solidFill>
                        </a:rPr>
                        <a:t>인수자 사번</a:t>
                      </a:r>
                      <a:endParaRPr lang="en-US" altLang="ko-KR" dirty="0" smtClean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FK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직원 계정</a:t>
                      </a: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]</a:t>
                      </a:r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테이블 참조</a:t>
                      </a: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후임자</a:t>
                      </a: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96916228"/>
                  </a:ext>
                </a:extLst>
              </a:tr>
              <a:tr h="1170878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인수인계 상태</a:t>
                      </a: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인수인계 내용</a:t>
                      </a: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교대근무 일자</a:t>
                      </a: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인계자 서명 여부</a:t>
                      </a: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인수자 서명 여부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일반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관제 업무 교대 및 서명 로그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6137106"/>
                  </a:ext>
                </a:extLst>
              </a:tr>
              <a:tr h="669073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tx1"/>
                          </a:solidFill>
                        </a:rPr>
                        <a:t>미결 사항 락킹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aseline="0" dirty="0" smtClean="0">
                          <a:solidFill>
                            <a:srgbClr val="0070C0"/>
                          </a:solidFill>
                        </a:rPr>
                        <a:t>락킹 시퀀스</a:t>
                      </a:r>
                      <a:endParaRPr lang="ko-KR" altLang="en-US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데이터 잠금</a:t>
                      </a: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(Locking)</a:t>
                      </a:r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고유 번호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9724919"/>
                  </a:ext>
                </a:extLst>
              </a:tr>
              <a:tr h="167268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accent2"/>
                          </a:solidFill>
                        </a:rPr>
                        <a:t>인수인계 시퀀스</a:t>
                      </a:r>
                      <a:endParaRPr lang="ko-KR" alt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FK</a:t>
                      </a:r>
                      <a:endParaRPr lang="ko-KR" altLang="en-US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인수인계 이력</a:t>
                      </a: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]</a:t>
                      </a:r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테이블 참조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4982066"/>
                  </a:ext>
                </a:extLst>
              </a:tr>
              <a:tr h="66907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락킹 대상 카테고리</a:t>
                      </a: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대상</a:t>
                      </a: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ID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일반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미결 업무 잠금 처리 타겟 정보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981352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28310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658</Words>
  <Application>Microsoft Office PowerPoint</Application>
  <PresentationFormat>와이드스크린</PresentationFormat>
  <Paragraphs>189</Paragraphs>
  <Slides>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1" baseType="lpstr">
      <vt:lpstr>Malgun Gothic</vt:lpstr>
      <vt:lpstr>Malgun Gothic</vt:lpstr>
      <vt:lpstr>바탕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33</cp:revision>
  <cp:lastPrinted>2026-08-31T04:55:23Z</cp:lastPrinted>
  <dcterms:created xsi:type="dcterms:W3CDTF">2026-08-26T07:57:51Z</dcterms:created>
  <dcterms:modified xsi:type="dcterms:W3CDTF">2026-08-31T05:10:16Z</dcterms:modified>
</cp:coreProperties>
</file>
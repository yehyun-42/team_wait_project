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1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8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3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47A03-ED33-4C74-A767-1AE039CFBF55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7E404-90A8-479D-9C4E-3A43FC1E48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026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2435" cy="45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23" name="Google Shape;123;p1:notes"/>
          <p:cNvSpPr txBox="1">
            <a:spLocks noGrp="1"/>
          </p:cNvSpPr>
          <p:nvPr>
            <p:ph type="dt" idx="10"/>
          </p:nvPr>
        </p:nvSpPr>
        <p:spPr>
          <a:xfrm>
            <a:off x="3884930" y="0"/>
            <a:ext cx="2972435" cy="45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 b="0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2022-03-26 (Sat)</a:t>
            </a:r>
            <a:endParaRPr sz="1200" b="0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7035" cy="411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endParaRPr sz="1000" b="0" strike="noStrike" cap="none" dirty="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1:notes"/>
          <p:cNvSpPr txBox="1">
            <a:spLocks noGrp="1"/>
          </p:cNvSpPr>
          <p:nvPr>
            <p:ph type="ftr" idx="11"/>
          </p:nvPr>
        </p:nvSpPr>
        <p:spPr>
          <a:xfrm>
            <a:off x="0" y="8685530"/>
            <a:ext cx="2972435" cy="45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27" name="Google Shape;127;p1:notes"/>
          <p:cNvSpPr txBox="1">
            <a:spLocks noGrp="1"/>
          </p:cNvSpPr>
          <p:nvPr>
            <p:ph type="sldNum" idx="12"/>
          </p:nvPr>
        </p:nvSpPr>
        <p:spPr>
          <a:xfrm>
            <a:off x="3884930" y="8685530"/>
            <a:ext cx="2972435" cy="45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fld id="{00000000-1234-1234-1234-123412341234}" type="slidenum">
              <a:rPr lang="en-US" altLang="ko-KR" sz="1200" b="0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200" b="0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1410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3958D-9D30-437F-8F11-69E124E0CF27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513CD-645F-486C-BB45-E23B60120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83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3958D-9D30-437F-8F11-69E124E0CF27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513CD-645F-486C-BB45-E23B60120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686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3958D-9D30-437F-8F11-69E124E0CF27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513CD-645F-486C-BB45-E23B60120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916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3958D-9D30-437F-8F11-69E124E0CF27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513CD-645F-486C-BB45-E23B60120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928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3958D-9D30-437F-8F11-69E124E0CF27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513CD-645F-486C-BB45-E23B60120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257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3958D-9D30-437F-8F11-69E124E0CF27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513CD-645F-486C-BB45-E23B60120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14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3958D-9D30-437F-8F11-69E124E0CF27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513CD-645F-486C-BB45-E23B60120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94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3958D-9D30-437F-8F11-69E124E0CF27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513CD-645F-486C-BB45-E23B60120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279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3958D-9D30-437F-8F11-69E124E0CF27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513CD-645F-486C-BB45-E23B60120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011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3958D-9D30-437F-8F11-69E124E0CF27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513CD-645F-486C-BB45-E23B60120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672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3958D-9D30-437F-8F11-69E124E0CF27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513CD-645F-486C-BB45-E23B60120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6469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3958D-9D30-437F-8F11-69E124E0CF27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513CD-645F-486C-BB45-E23B60120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227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/>
        </p:nvSpPr>
        <p:spPr>
          <a:xfrm>
            <a:off x="1524000" y="1778000"/>
            <a:ext cx="8915400" cy="90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133" tIns="51633" rIns="104133" bIns="51633" anchor="t" anchorCtr="0">
            <a:spAutoFit/>
          </a:bodyPr>
          <a:lstStyle/>
          <a:p>
            <a:pPr algn="ctr">
              <a:buClr>
                <a:schemeClr val="lt1"/>
              </a:buClr>
              <a:buSzPts val="3900"/>
            </a:pPr>
            <a:r>
              <a:rPr lang="en-US" altLang="ko-KR" sz="52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HEXA </a:t>
            </a:r>
            <a:r>
              <a:rPr lang="ko-KR" altLang="en-US" sz="52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프로세스 흐름도</a:t>
            </a:r>
            <a:endParaRPr sz="5200"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30" name="Google Shape;130;p18"/>
          <p:cNvGraphicFramePr/>
          <p:nvPr/>
        </p:nvGraphicFramePr>
        <p:xfrm>
          <a:off x="6640407" y="4893733"/>
          <a:ext cx="5183266" cy="14766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91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1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0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2400" b="0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문서관리번호</a:t>
                      </a:r>
                      <a:endParaRPr sz="2400" b="0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933" marR="121933" marT="60967" marB="60967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597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300" b="0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933" marR="121933" marT="60967" marB="60967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597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2400" b="0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    성    일</a:t>
                      </a:r>
                      <a:endParaRPr sz="2400" b="0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933" marR="121933" marT="60967" marB="60967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597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2400" b="0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2022. 03. 22</a:t>
                      </a:r>
                      <a:endParaRPr sz="2400" b="0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933" marR="121933" marT="60967" marB="60967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597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2400" b="0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           안</a:t>
                      </a:r>
                      <a:endParaRPr sz="2400" b="0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933" marR="121933" marT="60967" marB="60967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597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2400" b="0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     반     본</a:t>
                      </a:r>
                      <a:endParaRPr sz="2400" b="0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933" marR="121933" marT="60967" marB="60967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597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1" name="Google Shape;131;p18"/>
          <p:cNvSpPr/>
          <p:nvPr/>
        </p:nvSpPr>
        <p:spPr>
          <a:xfrm>
            <a:off x="100" y="0"/>
            <a:ext cx="12192000" cy="6880000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32" name="Google Shape;132;p18"/>
          <p:cNvSpPr txBox="1"/>
          <p:nvPr/>
        </p:nvSpPr>
        <p:spPr>
          <a:xfrm>
            <a:off x="1524000" y="2570480"/>
            <a:ext cx="8915600" cy="1499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133" tIns="51633" rIns="104133" bIns="51633" anchor="t" anchorCtr="0">
            <a:spAutoFit/>
          </a:bodyPr>
          <a:lstStyle/>
          <a:p>
            <a:pPr algn="ctr">
              <a:buClr>
                <a:schemeClr val="lt1"/>
              </a:buClr>
              <a:buSzPts val="3900"/>
            </a:pPr>
            <a:r>
              <a:rPr lang="ko-KR" altLang="en-US" sz="4267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유기동물 보호소 </a:t>
            </a:r>
            <a:r>
              <a:rPr lang="ko-KR" altLang="en-US" sz="4267" b="1" dirty="0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관제 </a:t>
            </a:r>
            <a:r>
              <a:rPr lang="ko-KR" altLang="en-US" sz="4267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</a:t>
            </a:r>
            <a:r>
              <a:rPr lang="en-US" altLang="ko-KR" sz="4267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48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br>
              <a:rPr lang="en-US" altLang="ko-KR" sz="48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4800" b="1" dirty="0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개념</a:t>
            </a:r>
            <a:r>
              <a:rPr lang="en-US" altLang="ko-KR" sz="4800" b="1" dirty="0" smtClean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ERD</a:t>
            </a:r>
            <a:endParaRPr sz="4800" b="1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33" name="Google Shape;133;p18"/>
          <p:cNvGraphicFramePr/>
          <p:nvPr>
            <p:extLst>
              <p:ext uri="{D42A27DB-BD31-4B8C-83A1-F6EECF244321}">
                <p14:modId xmlns:p14="http://schemas.microsoft.com/office/powerpoint/2010/main" val="3969971407"/>
              </p:ext>
            </p:extLst>
          </p:nvPr>
        </p:nvGraphicFramePr>
        <p:xfrm>
          <a:off x="6640407" y="4893733"/>
          <a:ext cx="5183266" cy="14766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91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1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0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2400" b="0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문서관리번호</a:t>
                      </a:r>
                      <a:endParaRPr sz="2400" b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933" marR="121933" marT="60967" marB="60967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endParaRPr sz="1300" b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933" marR="121933" marT="60967" marB="60967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2400" b="0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    성    일</a:t>
                      </a:r>
                      <a:endParaRPr sz="2400" b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933" marR="121933" marT="60967" marB="60967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en-US" sz="2400" b="0" u="none" strike="noStrike" cap="none" smtClean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2026.08.26</a:t>
                      </a:r>
                      <a:endParaRPr sz="2400" b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933" marR="121933" marT="60967" marB="60967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2400" b="0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           안</a:t>
                      </a:r>
                      <a:endParaRPr sz="2400" b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933" marR="121933" marT="60967" marB="60967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2400" b="0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     반     본</a:t>
                      </a:r>
                      <a:endParaRPr sz="2400" b="0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933" marR="121933" marT="60967" marB="60967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8762422" y="212035"/>
          <a:ext cx="3061251" cy="10562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0417">
                  <a:extLst>
                    <a:ext uri="{9D8B030D-6E8A-4147-A177-3AD203B41FA5}">
                      <a16:colId xmlns:a16="http://schemas.microsoft.com/office/drawing/2014/main" val="1582851726"/>
                    </a:ext>
                  </a:extLst>
                </a:gridCol>
                <a:gridCol w="1020417">
                  <a:extLst>
                    <a:ext uri="{9D8B030D-6E8A-4147-A177-3AD203B41FA5}">
                      <a16:colId xmlns:a16="http://schemas.microsoft.com/office/drawing/2014/main" val="993078549"/>
                    </a:ext>
                  </a:extLst>
                </a:gridCol>
                <a:gridCol w="1020417">
                  <a:extLst>
                    <a:ext uri="{9D8B030D-6E8A-4147-A177-3AD203B41FA5}">
                      <a16:colId xmlns:a16="http://schemas.microsoft.com/office/drawing/2014/main" val="285379991"/>
                    </a:ext>
                  </a:extLst>
                </a:gridCol>
              </a:tblGrid>
              <a:tr h="3813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담임</a:t>
                      </a: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23876" marR="23876" marT="23876" marB="23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이사</a:t>
                      </a: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23876" marR="23876" marT="23876" marB="23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바탕" panose="02030600000101010101" pitchFamily="18" charset="-127"/>
                        </a:rPr>
                        <a:t>대표</a:t>
                      </a: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23876" marR="23876" marT="23876" marB="23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224282"/>
                  </a:ext>
                </a:extLst>
              </a:tr>
              <a:tr h="674904"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748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6196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337178"/>
              </p:ext>
            </p:extLst>
          </p:nvPr>
        </p:nvGraphicFramePr>
        <p:xfrm>
          <a:off x="0" y="2"/>
          <a:ext cx="12191999" cy="685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970">
                  <a:extLst>
                    <a:ext uri="{9D8B030D-6E8A-4147-A177-3AD203B41FA5}">
                      <a16:colId xmlns:a16="http://schemas.microsoft.com/office/drawing/2014/main" val="1965680581"/>
                    </a:ext>
                  </a:extLst>
                </a:gridCol>
                <a:gridCol w="4886943">
                  <a:extLst>
                    <a:ext uri="{9D8B030D-6E8A-4147-A177-3AD203B41FA5}">
                      <a16:colId xmlns:a16="http://schemas.microsoft.com/office/drawing/2014/main" val="253795851"/>
                    </a:ext>
                  </a:extLst>
                </a:gridCol>
                <a:gridCol w="2542671">
                  <a:extLst>
                    <a:ext uri="{9D8B030D-6E8A-4147-A177-3AD203B41FA5}">
                      <a16:colId xmlns:a16="http://schemas.microsoft.com/office/drawing/2014/main" val="1335425459"/>
                    </a:ext>
                  </a:extLst>
                </a:gridCol>
                <a:gridCol w="3175415">
                  <a:extLst>
                    <a:ext uri="{9D8B030D-6E8A-4147-A177-3AD203B41FA5}">
                      <a16:colId xmlns:a16="http://schemas.microsoft.com/office/drawing/2014/main" val="2210331486"/>
                    </a:ext>
                  </a:extLst>
                </a:gridCol>
              </a:tblGrid>
              <a:tr h="4724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엔티티명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속성명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키 구분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7648070"/>
                  </a:ext>
                </a:extLst>
              </a:tr>
              <a:tr h="47249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>
                          <a:solidFill>
                            <a:schemeClr val="tx1"/>
                          </a:solidFill>
                        </a:rPr>
                        <a:t>드론</a:t>
                      </a:r>
                      <a:endParaRPr lang="ko-KR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rgbClr val="0070C0"/>
                          </a:solidFill>
                        </a:rPr>
                        <a:t>드론</a:t>
                      </a:r>
                      <a:r>
                        <a:rPr lang="en-US" altLang="ko-KR" sz="1800" dirty="0" smtClean="0">
                          <a:solidFill>
                            <a:srgbClr val="0070C0"/>
                          </a:solidFill>
                        </a:rPr>
                        <a:t>ID</a:t>
                      </a:r>
                      <a:endParaRPr lang="ko-KR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/>
                        <a:t>드론 고유 식별자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7451178"/>
                  </a:ext>
                </a:extLst>
              </a:tr>
              <a:tr h="4724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accent2"/>
                          </a:solidFill>
                        </a:rPr>
                        <a:t>담당자 사번</a:t>
                      </a:r>
                      <a:endParaRPr lang="ko-KR" alt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FK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/>
                        <a:t>[</a:t>
                      </a:r>
                      <a:r>
                        <a:rPr lang="ko-KR" altLang="en-US" sz="1800" dirty="0" smtClean="0"/>
                        <a:t>직원 계정</a:t>
                      </a:r>
                      <a:r>
                        <a:rPr lang="en-US" altLang="ko-KR" sz="1800" dirty="0" smtClean="0"/>
                        <a:t>] </a:t>
                      </a:r>
                      <a:r>
                        <a:rPr lang="ko-KR" altLang="en-US" sz="1800" dirty="0" smtClean="0"/>
                        <a:t>테이블 참조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380829"/>
                  </a:ext>
                </a:extLst>
              </a:tr>
              <a:tr h="47249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>
                          <a:solidFill>
                            <a:schemeClr val="tx1"/>
                          </a:solidFill>
                        </a:rPr>
                        <a:t>비행 이력</a:t>
                      </a:r>
                      <a:endParaRPr lang="ko-KR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rgbClr val="0070C0"/>
                          </a:solidFill>
                        </a:rPr>
                        <a:t>비행 이력 시퀀스</a:t>
                      </a:r>
                      <a:endParaRPr lang="ko-KR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비행 이력 고유번호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2487455"/>
                  </a:ext>
                </a:extLst>
              </a:tr>
              <a:tr h="4724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accent2"/>
                          </a:solidFill>
                        </a:rPr>
                        <a:t>드론</a:t>
                      </a:r>
                      <a:r>
                        <a:rPr lang="en-US" altLang="ko-KR" sz="1800" dirty="0" smtClean="0">
                          <a:solidFill>
                            <a:schemeClr val="accent2"/>
                          </a:solidFill>
                        </a:rPr>
                        <a:t>ID</a:t>
                      </a:r>
                      <a:endParaRPr lang="ko-KR" alt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FK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드론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테이블 참조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9956709"/>
                  </a:ext>
                </a:extLst>
              </a:tr>
              <a:tr h="82686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비행 시작일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비행 종료일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비행 시간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배터리 소모량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등록 일시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일반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비행 관련 상세 데이터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91151"/>
                  </a:ext>
                </a:extLst>
              </a:tr>
              <a:tr h="47249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>
                          <a:solidFill>
                            <a:schemeClr val="tx1"/>
                          </a:solidFill>
                        </a:rPr>
                        <a:t>탐지 이력</a:t>
                      </a:r>
                      <a:endParaRPr lang="ko-KR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rgbClr val="0070C0"/>
                          </a:solidFill>
                        </a:rPr>
                        <a:t>탐지 이력 시퀀스</a:t>
                      </a:r>
                      <a:endParaRPr lang="ko-KR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8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탐지 이력 고유 번호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239299"/>
                  </a:ext>
                </a:extLst>
              </a:tr>
              <a:tr h="4724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err="1" smtClean="0">
                          <a:solidFill>
                            <a:schemeClr val="accent2"/>
                          </a:solidFill>
                        </a:rPr>
                        <a:t>드론</a:t>
                      </a:r>
                      <a:r>
                        <a:rPr lang="en-US" altLang="ko-KR" sz="1800" dirty="0" smtClean="0">
                          <a:solidFill>
                            <a:schemeClr val="accent2"/>
                          </a:solidFill>
                        </a:rPr>
                        <a:t>ID</a:t>
                      </a:r>
                      <a:endParaRPr lang="ko-KR" altLang="en-US" sz="1800" dirty="0" smtClean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FK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드론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 테이블 참조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90131"/>
                  </a:ext>
                </a:extLst>
              </a:tr>
              <a:tr h="95184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smtClean="0">
                          <a:solidFill>
                            <a:schemeClr val="tx1"/>
                          </a:solidFill>
                        </a:rPr>
                        <a:t>탐지 </a:t>
                      </a:r>
                      <a:r>
                        <a:rPr lang="ko-KR" altLang="en-US" sz="1800" smtClean="0">
                          <a:solidFill>
                            <a:schemeClr val="tx1"/>
                          </a:solidFill>
                        </a:rPr>
                        <a:t>시각</a:t>
                      </a:r>
                      <a:r>
                        <a:rPr lang="en-US" altLang="ko-KR" sz="180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dirty="0" err="1" smtClean="0">
                          <a:solidFill>
                            <a:schemeClr val="tx1"/>
                          </a:solidFill>
                        </a:rPr>
                        <a:t>축종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구분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스냅샷 이미지 경로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l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위험도 등급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로그 적재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일시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현장 조치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조치 사유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일반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탐지 및 축종 정보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370403"/>
                  </a:ext>
                </a:extLst>
              </a:tr>
              <a:tr h="47249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>
                          <a:solidFill>
                            <a:schemeClr val="tx1"/>
                          </a:solidFill>
                        </a:rPr>
                        <a:t>경보 이력</a:t>
                      </a:r>
                      <a:endParaRPr lang="ko-KR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rgbClr val="0070C0"/>
                          </a:solidFill>
                        </a:rPr>
                        <a:t>경보 이력 시퀀스</a:t>
                      </a:r>
                      <a:endParaRPr lang="ko-KR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경보 이력 고유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 번호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150424"/>
                  </a:ext>
                </a:extLst>
              </a:tr>
              <a:tr h="4724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accent2"/>
                          </a:solidFill>
                        </a:rPr>
                        <a:t>탐지 이력 시퀀스</a:t>
                      </a:r>
                      <a:endParaRPr lang="ko-KR" alt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FK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탐지 이력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테이블 참조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626364"/>
                  </a:ext>
                </a:extLst>
              </a:tr>
              <a:tr h="82686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알림 내용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전송 성공 여부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경보 발령 및 </a:t>
                      </a:r>
                      <a:endParaRPr lang="en-US" altLang="ko-KR" sz="18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전송 일시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일반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푸시 알림 및 전송 결과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832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20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825599"/>
              </p:ext>
            </p:extLst>
          </p:nvPr>
        </p:nvGraphicFramePr>
        <p:xfrm>
          <a:off x="0" y="3"/>
          <a:ext cx="12192000" cy="6857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291251990"/>
                    </a:ext>
                  </a:extLst>
                </a:gridCol>
                <a:gridCol w="4797513">
                  <a:extLst>
                    <a:ext uri="{9D8B030D-6E8A-4147-A177-3AD203B41FA5}">
                      <a16:colId xmlns:a16="http://schemas.microsoft.com/office/drawing/2014/main" val="2788089095"/>
                    </a:ext>
                  </a:extLst>
                </a:gridCol>
                <a:gridCol w="2542670">
                  <a:extLst>
                    <a:ext uri="{9D8B030D-6E8A-4147-A177-3AD203B41FA5}">
                      <a16:colId xmlns:a16="http://schemas.microsoft.com/office/drawing/2014/main" val="1918518430"/>
                    </a:ext>
                  </a:extLst>
                </a:gridCol>
                <a:gridCol w="3175417">
                  <a:extLst>
                    <a:ext uri="{9D8B030D-6E8A-4147-A177-3AD203B41FA5}">
                      <a16:colId xmlns:a16="http://schemas.microsoft.com/office/drawing/2014/main" val="3939090414"/>
                    </a:ext>
                  </a:extLst>
                </a:gridCol>
              </a:tblGrid>
              <a:tr h="6417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엔티티명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속성명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키 구분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910016"/>
                  </a:ext>
                </a:extLst>
              </a:tr>
              <a:tr h="64172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>
                          <a:solidFill>
                            <a:schemeClr val="tx1"/>
                          </a:solidFill>
                        </a:rPr>
                        <a:t>직원 계정</a:t>
                      </a:r>
                      <a:endParaRPr lang="ko-KR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rgbClr val="0070C0"/>
                          </a:solidFill>
                        </a:rPr>
                        <a:t>사번</a:t>
                      </a:r>
                      <a:endParaRPr lang="ko-KR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직원 고유 사원 번호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4171950"/>
                  </a:ext>
                </a:extLst>
              </a:tr>
              <a:tr h="11275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소속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비밀번호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계정 상태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로그인 실패 횟수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마지막 비밀번호 변경일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마지막 로그인 일시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계정 등록일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일반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마스터 계정 정보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608698"/>
                  </a:ext>
                </a:extLst>
              </a:tr>
              <a:tr h="64172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>
                          <a:solidFill>
                            <a:schemeClr val="tx1"/>
                          </a:solidFill>
                        </a:rPr>
                        <a:t>로그인 이력</a:t>
                      </a:r>
                      <a:endParaRPr lang="ko-KR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rgbClr val="0070C0"/>
                          </a:solidFill>
                        </a:rPr>
                        <a:t>로그인 이력 시퀀스</a:t>
                      </a:r>
                      <a:endParaRPr lang="ko-KR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로그인 로그 고유 번호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1149018"/>
                  </a:ext>
                </a:extLst>
              </a:tr>
              <a:tr h="6417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accent2"/>
                          </a:solidFill>
                        </a:rPr>
                        <a:t>사번</a:t>
                      </a:r>
                      <a:endParaRPr lang="ko-KR" alt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FK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직원 계정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테이블 참조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79479"/>
                  </a:ext>
                </a:extLst>
              </a:tr>
              <a:tr h="78925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접속 요청 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IP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주소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로그인 결과 상태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로그인 시도 일시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일반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보안 및 감사용 로그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800893"/>
                  </a:ext>
                </a:extLst>
              </a:tr>
              <a:tr h="109092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>
                          <a:solidFill>
                            <a:schemeClr val="tx1"/>
                          </a:solidFill>
                        </a:rPr>
                        <a:t>권한 관리</a:t>
                      </a:r>
                      <a:endParaRPr lang="ko-KR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rgbClr val="0070C0"/>
                          </a:solidFill>
                        </a:rPr>
                        <a:t>권한번호</a:t>
                      </a:r>
                      <a:endParaRPr lang="ko-KR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8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권한 고유 번호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1153222"/>
                  </a:ext>
                </a:extLst>
              </a:tr>
              <a:tr h="6417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err="1" smtClean="0">
                          <a:solidFill>
                            <a:schemeClr val="tx1"/>
                          </a:solidFill>
                        </a:rPr>
                        <a:t>사번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FK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직원 계정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 테이블 참조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8834889"/>
                  </a:ext>
                </a:extLst>
              </a:tr>
              <a:tr h="6417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권한 명칭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일반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예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관제사 등</a:t>
                      </a:r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1460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20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517027"/>
              </p:ext>
            </p:extLst>
          </p:nvPr>
        </p:nvGraphicFramePr>
        <p:xfrm>
          <a:off x="0" y="2"/>
          <a:ext cx="12192000" cy="685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872039105"/>
                    </a:ext>
                  </a:extLst>
                </a:gridCol>
                <a:gridCol w="4746713">
                  <a:extLst>
                    <a:ext uri="{9D8B030D-6E8A-4147-A177-3AD203B41FA5}">
                      <a16:colId xmlns:a16="http://schemas.microsoft.com/office/drawing/2014/main" val="1182933672"/>
                    </a:ext>
                  </a:extLst>
                </a:gridCol>
                <a:gridCol w="2542670">
                  <a:extLst>
                    <a:ext uri="{9D8B030D-6E8A-4147-A177-3AD203B41FA5}">
                      <a16:colId xmlns:a16="http://schemas.microsoft.com/office/drawing/2014/main" val="2874944381"/>
                    </a:ext>
                  </a:extLst>
                </a:gridCol>
                <a:gridCol w="3175417">
                  <a:extLst>
                    <a:ext uri="{9D8B030D-6E8A-4147-A177-3AD203B41FA5}">
                      <a16:colId xmlns:a16="http://schemas.microsoft.com/office/drawing/2014/main" val="3391982074"/>
                    </a:ext>
                  </a:extLst>
                </a:gridCol>
              </a:tblGrid>
              <a:tr h="411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엔티티명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속성명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키 구분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643997"/>
                  </a:ext>
                </a:extLst>
              </a:tr>
              <a:tr h="41184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>
                          <a:solidFill>
                            <a:schemeClr val="tx1"/>
                          </a:solidFill>
                        </a:rPr>
                        <a:t>일일 리포트</a:t>
                      </a:r>
                      <a:endParaRPr lang="ko-KR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rgbClr val="0070C0"/>
                          </a:solidFill>
                        </a:rPr>
                        <a:t>리포트 시퀀스</a:t>
                      </a:r>
                      <a:endParaRPr lang="ko-KR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smtClean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smtClean="0">
                          <a:solidFill>
                            <a:schemeClr val="tx1"/>
                          </a:solidFill>
                        </a:rPr>
                        <a:t>리포트 고유</a:t>
                      </a:r>
                      <a:r>
                        <a:rPr lang="ko-KR" altLang="en-US" sz="1800" baseline="0" smtClean="0">
                          <a:solidFill>
                            <a:schemeClr val="tx1"/>
                          </a:solidFill>
                        </a:rPr>
                        <a:t> 번호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067168"/>
                  </a:ext>
                </a:extLst>
              </a:tr>
              <a:tr h="4118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err="1" smtClean="0">
                          <a:solidFill>
                            <a:schemeClr val="accent2"/>
                          </a:solidFill>
                        </a:rPr>
                        <a:t>사번</a:t>
                      </a:r>
                      <a:endParaRPr lang="ko-KR" alt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FK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직원 계정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테이블 참조</a:t>
                      </a:r>
                      <a:endParaRPr lang="ko-KR" altLang="en-US" sz="18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489099"/>
                  </a:ext>
                </a:extLst>
              </a:tr>
              <a:tr h="102961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리포트 기준 일자</a:t>
                      </a:r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당일 </a:t>
                      </a:r>
                      <a:r>
                        <a:rPr lang="ko-KR" altLang="en-US" sz="1800" baseline="0" dirty="0" err="1" smtClean="0">
                          <a:solidFill>
                            <a:schemeClr val="tx1"/>
                          </a:solidFill>
                        </a:rPr>
                        <a:t>드론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 비행시간 </a:t>
                      </a:r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당일 탐지 건수</a:t>
                      </a:r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조치 상태</a:t>
                      </a:r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확정 여부</a:t>
                      </a:r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집계 일시</a:t>
                      </a:r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수동 재실행 반영 일시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일반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일일 통계 및 마감 데이터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112191"/>
                  </a:ext>
                </a:extLst>
              </a:tr>
              <a:tr h="41184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 smtClean="0">
                          <a:solidFill>
                            <a:schemeClr val="tx1"/>
                          </a:solidFill>
                        </a:rPr>
                        <a:t>PDF </a:t>
                      </a:r>
                      <a:r>
                        <a:rPr lang="ko-KR" altLang="en-US" sz="1800" b="1" dirty="0" smtClean="0">
                          <a:solidFill>
                            <a:schemeClr val="tx1"/>
                          </a:solidFill>
                        </a:rPr>
                        <a:t>캐싱 이력</a:t>
                      </a:r>
                      <a:endParaRPr lang="ko-KR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rgbClr val="0070C0"/>
                          </a:solidFill>
                        </a:rPr>
                        <a:t>PDF</a:t>
                      </a:r>
                      <a:r>
                        <a:rPr lang="en-US" altLang="ko-KR" sz="1800" baseline="0" dirty="0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rgbClr val="0070C0"/>
                          </a:solidFill>
                        </a:rPr>
                        <a:t>캐시 식별자 시퀀스</a:t>
                      </a:r>
                      <a:endParaRPr lang="ko-KR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캐시 고유 번호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965011"/>
                  </a:ext>
                </a:extLst>
              </a:tr>
              <a:tr h="4118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accent2"/>
                          </a:solidFill>
                        </a:rPr>
                        <a:t>리포트 시퀀스</a:t>
                      </a:r>
                      <a:endParaRPr lang="ko-KR" alt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FK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전자결재 일일 리포트 연동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5722207"/>
                  </a:ext>
                </a:extLst>
              </a:tr>
              <a:tr h="72072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PDF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저장 파일 경로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 PDF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생성 상태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PDF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생성 및 캐싱 일시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일반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리포트 다운로드 최적화용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842134"/>
                  </a:ext>
                </a:extLst>
              </a:tr>
              <a:tr h="41184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>
                          <a:solidFill>
                            <a:schemeClr val="tx1"/>
                          </a:solidFill>
                        </a:rPr>
                        <a:t>결재 관리 이력</a:t>
                      </a:r>
                      <a:endParaRPr lang="ko-KR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rgbClr val="0070C0"/>
                          </a:solidFill>
                        </a:rPr>
                        <a:t>전자 결재 시퀀스</a:t>
                      </a:r>
                      <a:endParaRPr lang="ko-KR" alt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드론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테이블 참조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235211"/>
                  </a:ext>
                </a:extLst>
              </a:tr>
              <a:tr h="42084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accent2"/>
                          </a:solidFill>
                        </a:rPr>
                        <a:t>기안자 사번</a:t>
                      </a:r>
                      <a:endParaRPr lang="ko-KR" alt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FK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비행 관련 상세 데이터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781523"/>
                  </a:ext>
                </a:extLst>
              </a:tr>
              <a:tr h="72072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accent2"/>
                          </a:solidFill>
                        </a:rPr>
                        <a:t>관리자 사번</a:t>
                      </a:r>
                      <a:endParaRPr lang="ko-KR" alt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FK</a:t>
                      </a:r>
                      <a:endParaRPr lang="ko-KR" altLang="en-US" sz="18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탐지 이력 고유 번호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869539"/>
                  </a:ext>
                </a:extLst>
              </a:tr>
              <a:tr h="46539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상신 대상 리포트 일자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일반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드론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 테이블 참조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3897309"/>
                  </a:ext>
                </a:extLst>
              </a:tr>
              <a:tr h="102961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결재 상태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반려 사유 내용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관리자 서명 여부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l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최종 상신 기안 일시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최종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 승인</a:t>
                      </a:r>
                      <a:r>
                        <a:rPr lang="en-US" altLang="ko-KR" sz="1800" baseline="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800" baseline="0" dirty="0" smtClean="0">
                          <a:solidFill>
                            <a:schemeClr val="tx1"/>
                          </a:solidFill>
                        </a:rPr>
                        <a:t>반려 완료 일시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일반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전자 결재 진행 </a:t>
                      </a:r>
                      <a:endParaRPr lang="en-US" altLang="ko-KR" sz="18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프로세스 데이터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5978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873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915113"/>
              </p:ext>
            </p:extLst>
          </p:nvPr>
        </p:nvGraphicFramePr>
        <p:xfrm>
          <a:off x="0" y="2"/>
          <a:ext cx="12192000" cy="685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3348895211"/>
                    </a:ext>
                  </a:extLst>
                </a:gridCol>
                <a:gridCol w="4746713">
                  <a:extLst>
                    <a:ext uri="{9D8B030D-6E8A-4147-A177-3AD203B41FA5}">
                      <a16:colId xmlns:a16="http://schemas.microsoft.com/office/drawing/2014/main" val="3977438207"/>
                    </a:ext>
                  </a:extLst>
                </a:gridCol>
                <a:gridCol w="1984287">
                  <a:extLst>
                    <a:ext uri="{9D8B030D-6E8A-4147-A177-3AD203B41FA5}">
                      <a16:colId xmlns:a16="http://schemas.microsoft.com/office/drawing/2014/main" val="1561423734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278188714"/>
                    </a:ext>
                  </a:extLst>
                </a:gridCol>
              </a:tblGrid>
              <a:tr h="669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엔티티명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속성명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키 구분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2997235"/>
                  </a:ext>
                </a:extLst>
              </a:tr>
              <a:tr h="669073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tx1"/>
                          </a:solidFill>
                        </a:rPr>
                        <a:t>인수인계 이력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aseline="0" dirty="0" smtClean="0">
                          <a:solidFill>
                            <a:srgbClr val="0070C0"/>
                          </a:solidFill>
                        </a:rPr>
                        <a:t>인수인계 시퀀스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인수인계 고유 번호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6799171"/>
                  </a:ext>
                </a:extLst>
              </a:tr>
              <a:tr h="66907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accent2"/>
                          </a:solidFill>
                        </a:rPr>
                        <a:t>인계자 사번</a:t>
                      </a:r>
                      <a:endParaRPr lang="ko-KR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FK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직원 계정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테이블 참조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전임자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78830"/>
                  </a:ext>
                </a:extLst>
              </a:tr>
              <a:tr h="66907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accent2"/>
                          </a:solidFill>
                        </a:rPr>
                        <a:t>인수자 사번</a:t>
                      </a:r>
                      <a:endParaRPr lang="en-US" altLang="ko-KR" dirty="0" smtClean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FK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직원 계정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테이블 참조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후임자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916228"/>
                  </a:ext>
                </a:extLst>
              </a:tr>
              <a:tr h="117087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인수인계 상태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인수인계 내용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교대근무 일자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인계자 서명 여부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인수자 서명 여부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일반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관제 업무 교대 및 서명 로그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137106"/>
                  </a:ext>
                </a:extLst>
              </a:tr>
              <a:tr h="66907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tx1"/>
                          </a:solidFill>
                        </a:rPr>
                        <a:t>미결 사항 락킹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aseline="0" dirty="0" smtClean="0">
                          <a:solidFill>
                            <a:srgbClr val="0070C0"/>
                          </a:solidFill>
                        </a:rPr>
                        <a:t>락킹 시퀀스</a:t>
                      </a:r>
                      <a:endParaRPr lang="ko-KR" altLang="en-US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데이터 잠금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(Locking)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고유 번호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9724919"/>
                  </a:ext>
                </a:extLst>
              </a:tr>
              <a:tr h="167268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accent2"/>
                          </a:solidFill>
                        </a:rPr>
                        <a:t>인수인계 시퀀스</a:t>
                      </a:r>
                      <a:endParaRPr lang="ko-KR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FK</a:t>
                      </a:r>
                      <a:endParaRPr lang="ko-KR" alt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인수인계 이력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테이블 참조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982066"/>
                  </a:ext>
                </a:extLst>
              </a:tr>
              <a:tr h="66907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락킹 대상 카테고리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대상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일반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미결 업무 잠금 처리 타겟 정보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135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2831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527</Words>
  <Application>Microsoft Office PowerPoint</Application>
  <PresentationFormat>와이드스크린</PresentationFormat>
  <Paragraphs>162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Malgun Gothic</vt:lpstr>
      <vt:lpstr>Malgun Gothic</vt:lpstr>
      <vt:lpstr>바탕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25</cp:revision>
  <dcterms:created xsi:type="dcterms:W3CDTF">2026-08-26T07:57:51Z</dcterms:created>
  <dcterms:modified xsi:type="dcterms:W3CDTF">2026-08-27T06:55:45Z</dcterms:modified>
</cp:coreProperties>
</file>
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6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7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8.xml" ContentType="application/vnd.openxmlformats-officedocument.presentationml.notesSlide+xml"/>
  <Override PartName="/ppt/comments/comment6.xml" ContentType="application/vnd.openxmlformats-officedocument.presentationml.comments+xml"/>
  <Override PartName="/ppt/notesSlides/notesSlide9.xml" ContentType="application/vnd.openxmlformats-officedocument.presentationml.notesSlide+xml"/>
  <Override PartName="/ppt/comments/comment7.xml" ContentType="application/vnd.openxmlformats-officedocument.presentationml.comments+xml"/>
  <Override PartName="/ppt/notesSlides/notesSlide10.xml" ContentType="application/vnd.openxmlformats-officedocument.presentationml.notesSlide+xml"/>
  <Override PartName="/ppt/comments/comment8.xml" ContentType="application/vnd.openxmlformats-officedocument.presentationml.comments+xml"/>
  <Override PartName="/ppt/notesSlides/notesSlide11.xml" ContentType="application/vnd.openxmlformats-officedocument.presentationml.notesSlide+xml"/>
  <Override PartName="/ppt/comments/comment9.xml" ContentType="application/vnd.openxmlformats-officedocument.presentationml.comments+xml"/>
  <Override PartName="/ppt/notesSlides/notesSlide12.xml" ContentType="application/vnd.openxmlformats-officedocument.presentationml.notesSlide+xml"/>
  <Override PartName="/ppt/comments/comment10.xml" ContentType="application/vnd.openxmlformats-officedocument.presentationml.comments+xml"/>
  <Override PartName="/ppt/notesSlides/notesSlide13.xml" ContentType="application/vnd.openxmlformats-officedocument.presentationml.notesSlide+xml"/>
  <Override PartName="/ppt/comments/comment11.xml" ContentType="application/vnd.openxmlformats-officedocument.presentationml.comments+xml"/>
  <Override PartName="/ppt/notesSlides/notesSlide14.xml" ContentType="application/vnd.openxmlformats-officedocument.presentationml.notesSlide+xml"/>
  <Override PartName="/ppt/comments/comment12.xml" ContentType="application/vnd.openxmlformats-officedocument.presentationml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6" r:id="rId1"/>
  </p:sldMasterIdLst>
  <p:notesMasterIdLst>
    <p:notesMasterId r:id="rId19"/>
  </p:notesMasterIdLst>
  <p:sldIdLst>
    <p:sldId id="256" r:id="rId2"/>
    <p:sldId id="257" r:id="rId3"/>
    <p:sldId id="372" r:id="rId4"/>
    <p:sldId id="373" r:id="rId5"/>
    <p:sldId id="374" r:id="rId6"/>
    <p:sldId id="376" r:id="rId7"/>
    <p:sldId id="375" r:id="rId8"/>
    <p:sldId id="381" r:id="rId9"/>
    <p:sldId id="377" r:id="rId10"/>
    <p:sldId id="378" r:id="rId11"/>
    <p:sldId id="379" r:id="rId12"/>
    <p:sldId id="380" r:id="rId13"/>
    <p:sldId id="382" r:id="rId14"/>
    <p:sldId id="383" r:id="rId15"/>
    <p:sldId id="384" r:id="rId16"/>
    <p:sldId id="385" r:id="rId17"/>
    <p:sldId id="386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290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714">
          <p15:clr>
            <a:srgbClr val="A4A3A4"/>
          </p15:clr>
        </p15:guide>
        <p15:guide id="4" orient="horz" pos="2406">
          <p15:clr>
            <a:srgbClr val="A4A3A4"/>
          </p15:clr>
        </p15:guide>
        <p15:guide id="5" pos="3975">
          <p15:clr>
            <a:srgbClr val="A4A3A4"/>
          </p15:clr>
        </p15:guide>
        <p15:guide id="6" pos="5298">
          <p15:clr>
            <a:srgbClr val="A4A3A4"/>
          </p15:clr>
        </p15:guide>
        <p15:guide id="7" orient="horz" pos="2405">
          <p15:clr>
            <a:srgbClr val="A4A3A4"/>
          </p15:clr>
        </p15:guide>
        <p15:guide id="8" pos="5297">
          <p15:clr>
            <a:srgbClr val="A4A3A4"/>
          </p15:clr>
        </p15:guide>
        <p15:guide id="9" orient="horz" pos="1614">
          <p15:clr>
            <a:srgbClr val="A4A3A4"/>
          </p15:clr>
        </p15:guide>
        <p15:guide id="10" pos="529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w" initials="d" lastIdx="1" clrIdx="0">
    <p:extLst>
      <p:ext uri="{19B8F6BF-5375-455C-9EA6-DF929625EA0E}">
        <p15:presenceInfo xmlns:p15="http://schemas.microsoft.com/office/powerpoint/2012/main" userId="d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818E"/>
    <a:srgbClr val="CCFFC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DA447D-BAF4-43FE-B3EF-7188871EB1FE}">
  <a:tblStyle styleId="{A7DA447D-BAF4-43FE-B3EF-7188871EB1FE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BFA3B82-0B14-4D30-A9CE-952FDBE51B7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48" autoAdjust="0"/>
    <p:restoredTop sz="86857" autoAdjust="0"/>
  </p:normalViewPr>
  <p:slideViewPr>
    <p:cSldViewPr snapToGrid="0">
      <p:cViewPr varScale="1">
        <p:scale>
          <a:sx n="75" d="100"/>
          <a:sy n="75" d="100"/>
        </p:scale>
        <p:origin x="84" y="1026"/>
      </p:cViewPr>
      <p:guideLst>
        <p:guide pos="529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  <p:guide orient="horz" pos="714"/>
        <p:guide orient="horz" pos="2406"/>
        <p:guide pos="3975"/>
        <p:guide pos="5298"/>
        <p:guide orient="horz" pos="2405"/>
        <p:guide pos="5297"/>
        <p:guide orient="horz" pos="1614"/>
        <p:guide pos="529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9T16:16:15.847" idx="1">
    <p:pos x="7705" y="2263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9T16:16:15.847" idx="1">
    <p:pos x="7705" y="2263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9T16:16:15.847" idx="1">
    <p:pos x="7705" y="2263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9T16:16:15.847" idx="1">
    <p:pos x="7705" y="2263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9T16:16:15.847" idx="1">
    <p:pos x="7705" y="2263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9T16:16:15.847" idx="1">
    <p:pos x="7705" y="2263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9T16:16:15.847" idx="1">
    <p:pos x="7705" y="2263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9T16:16:15.847" idx="1">
    <p:pos x="7705" y="2263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9T16:16:15.847" idx="1">
    <p:pos x="7705" y="2263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9T16:16:15.847" idx="1">
    <p:pos x="7705" y="2263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9T16:16:15.847" idx="1">
    <p:pos x="7705" y="2263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9T16:16:15.847" idx="1">
    <p:pos x="7705" y="2263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93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7035" cy="308673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53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2435" cy="45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23" name="Google Shape;123;p1:notes"/>
          <p:cNvSpPr txBox="1">
            <a:spLocks noGrp="1"/>
          </p:cNvSpPr>
          <p:nvPr>
            <p:ph type="dt" idx="10"/>
          </p:nvPr>
        </p:nvSpPr>
        <p:spPr>
          <a:xfrm>
            <a:off x="3884930" y="0"/>
            <a:ext cx="2972435" cy="45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 b="0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2022-03-26 (Sat)</a:t>
            </a:r>
            <a:endParaRPr sz="1200" b="0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" name="Google Shape;124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7035" cy="411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endParaRPr sz="1000" b="0" strike="noStrike" cap="none" dirty="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p1:notes"/>
          <p:cNvSpPr txBox="1">
            <a:spLocks noGrp="1"/>
          </p:cNvSpPr>
          <p:nvPr>
            <p:ph type="ftr" idx="11"/>
          </p:nvPr>
        </p:nvSpPr>
        <p:spPr>
          <a:xfrm>
            <a:off x="0" y="8685530"/>
            <a:ext cx="2972435" cy="45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27" name="Google Shape;127;p1:notes"/>
          <p:cNvSpPr txBox="1">
            <a:spLocks noGrp="1"/>
          </p:cNvSpPr>
          <p:nvPr>
            <p:ph type="sldNum" idx="12"/>
          </p:nvPr>
        </p:nvSpPr>
        <p:spPr>
          <a:xfrm>
            <a:off x="3884930" y="8685530"/>
            <a:ext cx="2972435" cy="45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fld id="{00000000-1234-1234-1234-123412341234}" type="slidenum">
              <a:rPr lang="en-US" altLang="ko-KR" sz="1200" b="0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sz="1200" b="0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2435" cy="45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37" name="Google Shape;137;p2:notes"/>
          <p:cNvSpPr txBox="1">
            <a:spLocks noGrp="1"/>
          </p:cNvSpPr>
          <p:nvPr>
            <p:ph type="dt" idx="10"/>
          </p:nvPr>
        </p:nvSpPr>
        <p:spPr>
          <a:xfrm>
            <a:off x="3884930" y="0"/>
            <a:ext cx="2972435" cy="45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 b="0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2022-03-26 (Sat)</a:t>
            </a:r>
            <a:endParaRPr sz="1200" b="0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7035" cy="411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endParaRPr sz="1000" b="0" strike="noStrike" cap="none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" name="Google Shape;140;p2:notes"/>
          <p:cNvSpPr txBox="1">
            <a:spLocks noGrp="1"/>
          </p:cNvSpPr>
          <p:nvPr>
            <p:ph type="ftr" idx="11"/>
          </p:nvPr>
        </p:nvSpPr>
        <p:spPr>
          <a:xfrm>
            <a:off x="0" y="8685530"/>
            <a:ext cx="2972435" cy="45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41" name="Google Shape;141;p2:notes"/>
          <p:cNvSpPr txBox="1">
            <a:spLocks noGrp="1"/>
          </p:cNvSpPr>
          <p:nvPr>
            <p:ph type="sldNum" idx="12"/>
          </p:nvPr>
        </p:nvSpPr>
        <p:spPr>
          <a:xfrm>
            <a:off x="3884930" y="8685530"/>
            <a:ext cx="2972435" cy="45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fld id="{00000000-1234-1234-1234-123412341234}" type="slidenum">
              <a:rPr lang="en-US" altLang="ko-KR" sz="1200" b="0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sz="1200" b="0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4abc63d41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134abc63d41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134abc63d41_1_1:notes"/>
          <p:cNvSpPr txBox="1">
            <a:spLocks noGrp="1"/>
          </p:cNvSpPr>
          <p:nvPr>
            <p:ph type="sldNum" idx="12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0581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4abc63d41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134abc63d41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g134abc63d41_1_1:notes"/>
          <p:cNvSpPr txBox="1">
            <a:spLocks noGrp="1"/>
          </p:cNvSpPr>
          <p:nvPr>
            <p:ph type="sldNum" idx="12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7539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4abc63d41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134abc63d41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g134abc63d41_1_1:notes"/>
          <p:cNvSpPr txBox="1">
            <a:spLocks noGrp="1"/>
          </p:cNvSpPr>
          <p:nvPr>
            <p:ph type="sldNum" idx="12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5653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4abc63d41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134abc63d41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g134abc63d41_1_1:notes"/>
          <p:cNvSpPr txBox="1">
            <a:spLocks noGrp="1"/>
          </p:cNvSpPr>
          <p:nvPr>
            <p:ph type="sldNum" idx="12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9359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4abc63d41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134abc63d41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g134abc63d41_1_1:notes"/>
          <p:cNvSpPr txBox="1">
            <a:spLocks noGrp="1"/>
          </p:cNvSpPr>
          <p:nvPr>
            <p:ph type="sldNum" idx="12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42695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4abc63d41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134abc63d41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g134abc63d41_1_1:notes"/>
          <p:cNvSpPr txBox="1">
            <a:spLocks noGrp="1"/>
          </p:cNvSpPr>
          <p:nvPr>
            <p:ph type="sldNum" idx="12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2117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4abc63d41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134abc63d41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g134abc63d41_1_1:notes"/>
          <p:cNvSpPr txBox="1">
            <a:spLocks noGrp="1"/>
          </p:cNvSpPr>
          <p:nvPr>
            <p:ph type="sldNum" idx="12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5062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4abc63d41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134abc63d41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g134abc63d41_1_1:notes"/>
          <p:cNvSpPr txBox="1">
            <a:spLocks noGrp="1"/>
          </p:cNvSpPr>
          <p:nvPr>
            <p:ph type="sldNum" idx="12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9764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4abc63d41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134abc63d41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g134abc63d41_1_1:notes"/>
          <p:cNvSpPr txBox="1">
            <a:spLocks noGrp="1"/>
          </p:cNvSpPr>
          <p:nvPr>
            <p:ph type="sldNum" idx="12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41368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4abc63d41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134abc63d41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g134abc63d41_1_1:notes"/>
          <p:cNvSpPr txBox="1">
            <a:spLocks noGrp="1"/>
          </p:cNvSpPr>
          <p:nvPr>
            <p:ph type="sldNum" idx="12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67729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4abc63d41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134abc63d41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g134abc63d41_1_1:notes"/>
          <p:cNvSpPr txBox="1">
            <a:spLocks noGrp="1"/>
          </p:cNvSpPr>
          <p:nvPr>
            <p:ph type="sldNum" idx="12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88990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4abc63d41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134abc63d41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g134abc63d41_1_1:notes"/>
          <p:cNvSpPr txBox="1">
            <a:spLocks noGrp="1"/>
          </p:cNvSpPr>
          <p:nvPr>
            <p:ph type="sldNum" idx="12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92659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4abc63d41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134abc63d41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g134abc63d41_1_1:notes"/>
          <p:cNvSpPr txBox="1">
            <a:spLocks noGrp="1"/>
          </p:cNvSpPr>
          <p:nvPr>
            <p:ph type="sldNum" idx="12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1788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4abc63d41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134abc63d41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g134abc63d41_1_1:notes"/>
          <p:cNvSpPr txBox="1">
            <a:spLocks noGrp="1"/>
          </p:cNvSpPr>
          <p:nvPr>
            <p:ph type="sldNum" idx="12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41821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4abc63d41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134abc63d41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g134abc63d41_1_1:notes"/>
          <p:cNvSpPr txBox="1">
            <a:spLocks noGrp="1"/>
          </p:cNvSpPr>
          <p:nvPr>
            <p:ph type="sldNum" idx="12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7392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726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85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357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624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275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6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754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816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992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05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62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300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sldNum="0"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/>
        </p:nvSpPr>
        <p:spPr>
          <a:xfrm>
            <a:off x="1143000" y="1333500"/>
            <a:ext cx="6686550" cy="678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100" tIns="38725" rIns="78100" bIns="387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Malgun Gothic"/>
              <a:buNone/>
            </a:pPr>
            <a:r>
              <a:rPr lang="ko-KR" sz="39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HEXA 프로세스 흐름도</a:t>
            </a:r>
            <a:endParaRPr sz="39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30" name="Google Shape;130;p18"/>
          <p:cNvGraphicFramePr/>
          <p:nvPr/>
        </p:nvGraphicFramePr>
        <p:xfrm>
          <a:off x="4980305" y="3670300"/>
          <a:ext cx="3887450" cy="1107450"/>
        </p:xfrm>
        <a:graphic>
          <a:graphicData uri="http://schemas.openxmlformats.org/drawingml/2006/table">
            <a:tbl>
              <a:tblPr>
                <a:noFill/>
                <a:tableStyleId>{A7DA447D-BAF4-43FE-B3EF-7188871EB1FE}</a:tableStyleId>
              </a:tblPr>
              <a:tblGrid>
                <a:gridCol w="194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b="0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문서관리번호</a:t>
                      </a:r>
                      <a:endParaRPr sz="1800" b="0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597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0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597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b="0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    성    일</a:t>
                      </a:r>
                      <a:endParaRPr sz="1800" b="0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597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b="0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2022. 03. 22</a:t>
                      </a:r>
                      <a:endParaRPr sz="1800" b="0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597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b="0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           안</a:t>
                      </a:r>
                      <a:endParaRPr sz="1800" b="0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597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b="0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     반     본</a:t>
                      </a:r>
                      <a:endParaRPr sz="1800" b="0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597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1" name="Google Shape;131;p18"/>
          <p:cNvSpPr/>
          <p:nvPr/>
        </p:nvSpPr>
        <p:spPr>
          <a:xfrm>
            <a:off x="75" y="0"/>
            <a:ext cx="9144000" cy="51600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1143000" y="1927860"/>
            <a:ext cx="6686700" cy="1124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100" tIns="38725" rIns="78100" bIns="387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Malgun Gothic"/>
              <a:buNone/>
            </a:pPr>
            <a:r>
              <a:rPr lang="ko-KR" altLang="en-US" sz="3200" b="1" dirty="0" smtClean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유기동물 </a:t>
            </a:r>
            <a:r>
              <a:rPr lang="ko-KR" altLang="en-US" sz="3200" b="1" smtClean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보호소 관제 </a:t>
            </a:r>
            <a:r>
              <a:rPr lang="ko-KR" altLang="en-US" sz="3200" b="1" dirty="0" smtClean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</a:t>
            </a:r>
            <a:r>
              <a:rPr lang="en-US" altLang="ko-KR" sz="32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3600" b="1" i="0" u="none" strike="noStrike" cap="none" dirty="0" smtClean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br>
              <a:rPr lang="en-US" altLang="ko-KR" sz="3600" b="1" i="0" u="none" strike="noStrike" cap="none" dirty="0" smtClean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3600" b="1" i="0" u="none" strike="noStrike" cap="none" dirty="0" smtClean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프로세스 </a:t>
            </a:r>
            <a:r>
              <a:rPr lang="ko-KR" sz="36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흐름도</a:t>
            </a:r>
            <a:endParaRPr sz="36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33" name="Google Shape;133;p18"/>
          <p:cNvGraphicFramePr/>
          <p:nvPr>
            <p:extLst>
              <p:ext uri="{D42A27DB-BD31-4B8C-83A1-F6EECF244321}">
                <p14:modId xmlns:p14="http://schemas.microsoft.com/office/powerpoint/2010/main" val="3572497268"/>
              </p:ext>
            </p:extLst>
          </p:nvPr>
        </p:nvGraphicFramePr>
        <p:xfrm>
          <a:off x="4980305" y="3670300"/>
          <a:ext cx="3887450" cy="1107450"/>
        </p:xfrm>
        <a:graphic>
          <a:graphicData uri="http://schemas.openxmlformats.org/drawingml/2006/table">
            <a:tbl>
              <a:tblPr>
                <a:noFill/>
                <a:tableStyleId>{A7DA447D-BAF4-43FE-B3EF-7188871EB1FE}</a:tableStyleId>
              </a:tblPr>
              <a:tblGrid>
                <a:gridCol w="194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b="0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문서관리번호</a:t>
                      </a:r>
                      <a:endParaRPr sz="1800" b="0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0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b="0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    성    일</a:t>
                      </a:r>
                      <a:endParaRPr sz="1800" b="0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en-US" sz="1800" b="0" u="none" strike="noStrike" cap="none" smtClean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2026.08.24</a:t>
                      </a:r>
                      <a:endParaRPr sz="1800" b="0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b="0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           안</a:t>
                      </a:r>
                      <a:endParaRPr sz="1800" b="0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b="0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     반     본</a:t>
                      </a:r>
                      <a:endParaRPr sz="1800" b="0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877681"/>
              </p:ext>
            </p:extLst>
          </p:nvPr>
        </p:nvGraphicFramePr>
        <p:xfrm>
          <a:off x="6571816" y="159026"/>
          <a:ext cx="2295939" cy="7922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5313">
                  <a:extLst>
                    <a:ext uri="{9D8B030D-6E8A-4147-A177-3AD203B41FA5}">
                      <a16:colId xmlns:a16="http://schemas.microsoft.com/office/drawing/2014/main" val="1582851726"/>
                    </a:ext>
                  </a:extLst>
                </a:gridCol>
                <a:gridCol w="765313">
                  <a:extLst>
                    <a:ext uri="{9D8B030D-6E8A-4147-A177-3AD203B41FA5}">
                      <a16:colId xmlns:a16="http://schemas.microsoft.com/office/drawing/2014/main" val="993078549"/>
                    </a:ext>
                  </a:extLst>
                </a:gridCol>
                <a:gridCol w="765313">
                  <a:extLst>
                    <a:ext uri="{9D8B030D-6E8A-4147-A177-3AD203B41FA5}">
                      <a16:colId xmlns:a16="http://schemas.microsoft.com/office/drawing/2014/main" val="285379991"/>
                    </a:ext>
                  </a:extLst>
                </a:gridCol>
              </a:tblGrid>
              <a:tr h="2860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담임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이사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대표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224282"/>
                  </a:ext>
                </a:extLst>
              </a:tr>
              <a:tr h="50617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74851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p19"/>
          <p:cNvGraphicFramePr/>
          <p:nvPr>
            <p:extLst>
              <p:ext uri="{D42A27DB-BD31-4B8C-83A1-F6EECF244321}">
                <p14:modId xmlns:p14="http://schemas.microsoft.com/office/powerpoint/2010/main" val="2292882557"/>
              </p:ext>
            </p:extLst>
          </p:nvPr>
        </p:nvGraphicFramePr>
        <p:xfrm>
          <a:off x="371203" y="400050"/>
          <a:ext cx="8099400" cy="4246900"/>
        </p:xfrm>
        <a:graphic>
          <a:graphicData uri="http://schemas.openxmlformats.org/drawingml/2006/table">
            <a:tbl>
              <a:tblPr firstRow="1" bandRow="1">
                <a:noFill/>
                <a:tableStyleId>{8BFA3B82-0B14-4D30-A9CE-952FDBE51B78}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89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문서개정이력표</a:t>
                      </a:r>
                      <a:endParaRPr sz="1800" b="1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b="1" u="none" strike="noStrike" cap="none" dirty="0" err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문서명</a:t>
                      </a:r>
                      <a:endParaRPr sz="1800" b="1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프로세스 흐름도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버전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날짜</a:t>
                      </a:r>
                      <a:endParaRPr sz="1000" b="1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승인자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altLang="ko-KR" sz="1000" b="1" u="none" strike="noStrike" cap="none" dirty="0" smtClean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2026.08.21</a:t>
                      </a:r>
                      <a:endParaRPr sz="1000" b="1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1000" b="1" u="none" strike="noStrike" cap="none" dirty="0" smtClean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 작성</a:t>
                      </a:r>
                      <a:endParaRPr sz="1000" b="1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1000" b="1" dirty="0" smtClean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강동현</a:t>
                      </a:r>
                      <a:endParaRPr dirty="0"/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cap="none" dirty="0" smtClean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2026.08.24</a:t>
                      </a: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1000" b="1" i="0" u="none" strike="noStrike" cap="none" dirty="0" smtClean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로그인 및 </a:t>
                      </a:r>
                      <a:r>
                        <a:rPr lang="ko-KR" altLang="en-US" sz="1000" b="1" i="0" u="none" strike="noStrike" cap="none" dirty="0" err="1" smtClean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세션관리</a:t>
                      </a:r>
                      <a:r>
                        <a:rPr lang="ko-KR" altLang="en-US" sz="1000" b="1" i="0" u="none" strike="noStrike" cap="none" dirty="0" smtClean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 작성</a:t>
                      </a:r>
                      <a:endParaRPr sz="1000" b="1" i="0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Arial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1000" b="1" i="0" u="none" strike="noStrike" cap="none" dirty="0" smtClean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강동현</a:t>
                      </a:r>
                      <a:endParaRPr sz="1000" b="1" i="0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Arial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algun Gothic"/>
                        <a:buNone/>
                        <a:tabLst/>
                        <a:defRPr/>
                      </a:pPr>
                      <a:r>
                        <a:rPr lang="en-US" sz="1000" b="1" i="0" u="none" strike="noStrike" cap="none" dirty="0" smtClean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2026.08.24</a:t>
                      </a:r>
                      <a:endParaRPr sz="1000" b="1" i="0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Arial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실시간 관제 이벤트 작성</a:t>
                      </a: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1000" b="1" i="0" u="none" strike="noStrike" cap="none" dirty="0" smtClean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서기원</a:t>
                      </a:r>
                      <a:endParaRPr sz="1000" b="1" i="0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Arial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cap="none" dirty="0" smtClean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2026.08.24</a:t>
                      </a: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관제</a:t>
                      </a:r>
                      <a:r>
                        <a:rPr lang="ko-KR" altLang="en-US" sz="10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이력조회  작성</a:t>
                      </a: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1000" b="1" i="0" u="none" strike="noStrike" cap="none" dirty="0" err="1" smtClean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장지웅</a:t>
                      </a:r>
                      <a:endParaRPr sz="1000" b="1" i="0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Arial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cap="none" dirty="0" smtClean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2026.08.24</a:t>
                      </a: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0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cs typeface="Calibri"/>
                          <a:sym typeface="Calibri"/>
                        </a:rPr>
                        <a:t>통계 및 대시보드 </a:t>
                      </a:r>
                      <a:r>
                        <a:rPr lang="ko-KR" altLang="en-US" sz="1000" b="1" i="0" u="none" strike="noStrike" cap="none" baseline="0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Calibri"/>
                          <a:sym typeface="Arial"/>
                        </a:rPr>
                        <a:t> </a:t>
                      </a:r>
                      <a:r>
                        <a:rPr lang="ko-KR" altLang="en-US" sz="1000" b="1" i="0" u="none" strike="noStrike" cap="none" baseline="0" dirty="0" smtClean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Calibri"/>
                          <a:sym typeface="Arial"/>
                        </a:rPr>
                        <a:t>작성</a:t>
                      </a:r>
                      <a:endParaRPr lang="ko-KR" altLang="en-US" sz="1000" dirty="0" smtClean="0"/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1000" b="1" i="0" u="none" strike="noStrike" cap="none" dirty="0" err="1" smtClean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배가영</a:t>
                      </a:r>
                      <a:endParaRPr sz="1000" b="1" i="0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Arial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b="1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18525" y="19100"/>
            <a:ext cx="9125400" cy="50799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108075" y="669364"/>
            <a:ext cx="8946300" cy="4372200"/>
          </a:xfrm>
          <a:prstGeom prst="roundRect">
            <a:avLst>
              <a:gd name="adj" fmla="val 3690"/>
            </a:avLst>
          </a:prstGeom>
          <a:solidFill>
            <a:schemeClr val="lt1"/>
          </a:solidFill>
          <a:ln>
            <a:noFill/>
          </a:ln>
          <a:effectLst>
            <a:outerShdw dist="76200" dir="21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</a:t>
            </a:r>
          </a:p>
          <a:p>
            <a:pPr algn="ctr">
              <a:buClr>
                <a:srgbClr val="FFFFFF"/>
              </a:buClr>
              <a:buSzPts val="1400"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  </a:t>
            </a:r>
            <a:endParaRPr sz="1400" b="0" i="0" u="none" strike="noStrike" cap="none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932296"/>
              </p:ext>
            </p:extLst>
          </p:nvPr>
        </p:nvGraphicFramePr>
        <p:xfrm>
          <a:off x="1245437" y="1614777"/>
          <a:ext cx="6671576" cy="3173468"/>
        </p:xfrm>
        <a:graphic>
          <a:graphicData uri="http://schemas.openxmlformats.org/drawingml/2006/table">
            <a:tbl>
              <a:tblPr firstRow="1" bandRow="1">
                <a:tableStyleId>{A7DA447D-BAF4-43FE-B3EF-7188871EB1FE}</a:tableStyleId>
              </a:tblPr>
              <a:tblGrid>
                <a:gridCol w="1667894">
                  <a:extLst>
                    <a:ext uri="{9D8B030D-6E8A-4147-A177-3AD203B41FA5}">
                      <a16:colId xmlns:a16="http://schemas.microsoft.com/office/drawing/2014/main" val="128959416"/>
                    </a:ext>
                  </a:extLst>
                </a:gridCol>
                <a:gridCol w="1667894">
                  <a:extLst>
                    <a:ext uri="{9D8B030D-6E8A-4147-A177-3AD203B41FA5}">
                      <a16:colId xmlns:a16="http://schemas.microsoft.com/office/drawing/2014/main" val="2089422977"/>
                    </a:ext>
                  </a:extLst>
                </a:gridCol>
                <a:gridCol w="1667894">
                  <a:extLst>
                    <a:ext uri="{9D8B030D-6E8A-4147-A177-3AD203B41FA5}">
                      <a16:colId xmlns:a16="http://schemas.microsoft.com/office/drawing/2014/main" val="3472707224"/>
                    </a:ext>
                  </a:extLst>
                </a:gridCol>
                <a:gridCol w="1667894">
                  <a:extLst>
                    <a:ext uri="{9D8B030D-6E8A-4147-A177-3AD203B41FA5}">
                      <a16:colId xmlns:a16="http://schemas.microsoft.com/office/drawing/2014/main" val="753136805"/>
                    </a:ext>
                  </a:extLst>
                </a:gridCol>
              </a:tblGrid>
              <a:tr h="1038094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1" hangingPunct="1"/>
                      <a:r>
                        <a:rPr lang="ko-KR" altLang="en-US" sz="1100" b="0" i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프로세스의 실행 순서를 나타낸다</a:t>
                      </a:r>
                      <a:r>
                        <a:rPr lang="en-US" altLang="ko-KR" sz="1100" b="0" i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.</a:t>
                      </a:r>
                      <a:endParaRPr lang="ko-KR" altLang="en-US" sz="1100" b="0" i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393521"/>
                  </a:ext>
                </a:extLst>
              </a:tr>
              <a:tr h="1038094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하위 프로세스나 프로그램의 시작과 끝을 나타낸다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프로그램이 실행되는 두 가지 경로 중에 하나를 결정하는 조건부 실행을 나타낸다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일반적으로 예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아니오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 참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거짓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82254"/>
                  </a:ext>
                </a:extLst>
              </a:tr>
              <a:tr h="1038094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데이터의 값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형태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장소를 변경하는 한 세트의 실행을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 표현한다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데이터를 입력하거나 결과를 출력하는 경우와 같이 데이터의 입력과 출력을 나타낸다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61789"/>
                  </a:ext>
                </a:extLst>
              </a:tr>
            </a:tbl>
          </a:graphicData>
        </a:graphic>
      </p:graphicFrame>
      <p:sp>
        <p:nvSpPr>
          <p:cNvPr id="150" name="Google Shape;150;p20"/>
          <p:cNvSpPr txBox="1"/>
          <p:nvPr/>
        </p:nvSpPr>
        <p:spPr>
          <a:xfrm>
            <a:off x="97125" y="138364"/>
            <a:ext cx="53199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BD4"/>
              </a:buClr>
              <a:buSzPts val="2850"/>
              <a:buFont typeface="Arial"/>
              <a:buNone/>
            </a:pPr>
            <a:r>
              <a:rPr lang="ko-KR" sz="285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프로세스 </a:t>
            </a:r>
            <a:r>
              <a:rPr lang="ko-KR" sz="2850" b="1" i="0" u="none" strike="noStrike" cap="none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흐름도</a:t>
            </a:r>
            <a:r>
              <a:rPr lang="ko-KR" altLang="en-US" sz="2850" b="1" dirty="0">
                <a:solidFill>
                  <a:schemeClr val="bg1"/>
                </a:solidFill>
              </a:rPr>
              <a:t> </a:t>
            </a:r>
            <a:r>
              <a:rPr lang="ko-KR" altLang="en-US" sz="2850" b="1" dirty="0" smtClean="0">
                <a:solidFill>
                  <a:schemeClr val="bg1"/>
                </a:solidFill>
              </a:rPr>
              <a:t>규칙</a:t>
            </a:r>
            <a:endParaRPr sz="285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-6123" y="-6255"/>
            <a:ext cx="78600" cy="592800"/>
          </a:xfrm>
          <a:prstGeom prst="rect">
            <a:avLst/>
          </a:prstGeom>
          <a:solidFill>
            <a:srgbClr val="FDFB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0"/>
          <p:cNvGraphicFramePr/>
          <p:nvPr>
            <p:extLst>
              <p:ext uri="{D42A27DB-BD31-4B8C-83A1-F6EECF244321}">
                <p14:modId xmlns:p14="http://schemas.microsoft.com/office/powerpoint/2010/main" val="1661988455"/>
              </p:ext>
            </p:extLst>
          </p:nvPr>
        </p:nvGraphicFramePr>
        <p:xfrm>
          <a:off x="478500" y="748512"/>
          <a:ext cx="8205450" cy="553760"/>
        </p:xfrm>
        <a:graphic>
          <a:graphicData uri="http://schemas.openxmlformats.org/drawingml/2006/table">
            <a:tbl>
              <a:tblPr>
                <a:noFill/>
                <a:tableStyleId>{8BFA3B82-0B14-4D30-A9CE-952FDBE51B78}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단위 프로세스 ID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프로세스명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cs typeface="Calibri"/>
                          <a:sym typeface="Calibri"/>
                        </a:rPr>
                        <a:t>규칙</a:t>
                      </a:r>
                      <a:endParaRPr dirty="0"/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작성일자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altLang="ko-KR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2026.08.21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dirty="0" smtClean="0">
                          <a:solidFill>
                            <a:schemeClr val="lt1"/>
                          </a:solidFill>
                        </a:rPr>
                        <a:t>강동현</a:t>
                      </a:r>
                      <a:endParaRPr dirty="0"/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" name="직선 화살표 연결선 2"/>
          <p:cNvCxnSpPr/>
          <p:nvPr/>
        </p:nvCxnSpPr>
        <p:spPr>
          <a:xfrm>
            <a:off x="1312718" y="2282743"/>
            <a:ext cx="1440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모서리가 둥근 직사각형 3"/>
          <p:cNvSpPr/>
          <p:nvPr/>
        </p:nvSpPr>
        <p:spPr>
          <a:xfrm>
            <a:off x="1351402" y="2907450"/>
            <a:ext cx="1362635" cy="56888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터미널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351402" y="3931271"/>
            <a:ext cx="1362635" cy="59167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처리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다이아몬드 6"/>
          <p:cNvSpPr/>
          <p:nvPr/>
        </p:nvSpPr>
        <p:spPr>
          <a:xfrm>
            <a:off x="4770717" y="3864369"/>
            <a:ext cx="1308847" cy="753036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판단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평행 사변형 8"/>
          <p:cNvSpPr/>
          <p:nvPr/>
        </p:nvSpPr>
        <p:spPr>
          <a:xfrm>
            <a:off x="4670079" y="2886096"/>
            <a:ext cx="1510125" cy="546905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입력</a:t>
            </a:r>
            <a:r>
              <a:rPr lang="en-US" altLang="ko-KR" sz="1200" dirty="0" smtClean="0">
                <a:solidFill>
                  <a:schemeClr val="tx1"/>
                </a:solidFill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</a:rPr>
              <a:t>출력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09552" y="187894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 smtClean="0"/>
              <a:t>흐름선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7769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18525" y="19100"/>
            <a:ext cx="9125400" cy="50799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108075" y="669364"/>
            <a:ext cx="8946300" cy="4372200"/>
          </a:xfrm>
          <a:prstGeom prst="roundRect">
            <a:avLst>
              <a:gd name="adj" fmla="val 3690"/>
            </a:avLst>
          </a:prstGeom>
          <a:solidFill>
            <a:schemeClr val="lt1"/>
          </a:solidFill>
          <a:ln>
            <a:noFill/>
          </a:ln>
          <a:effectLst>
            <a:outerShdw dist="76200" dir="21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</a:t>
            </a:r>
          </a:p>
          <a:p>
            <a:pPr algn="ctr">
              <a:buClr>
                <a:srgbClr val="FFFFFF"/>
              </a:buClr>
              <a:buSzPts val="1400"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  </a:t>
            </a:r>
            <a:endParaRPr sz="1400" b="0" i="0" u="none" strike="noStrike" cap="none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97125" y="138364"/>
            <a:ext cx="53199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BD4"/>
              </a:buClr>
              <a:buSzPts val="2850"/>
              <a:buFont typeface="Arial"/>
              <a:buNone/>
            </a:pPr>
            <a:r>
              <a:rPr lang="ko-KR" altLang="en-US" sz="2850" b="1" dirty="0" smtClean="0">
                <a:solidFill>
                  <a:schemeClr val="bg1"/>
                </a:solidFill>
              </a:rPr>
              <a:t>로그인 및 세션 관리</a:t>
            </a:r>
            <a:endParaRPr sz="285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-6123" y="-6255"/>
            <a:ext cx="78600" cy="592800"/>
          </a:xfrm>
          <a:prstGeom prst="rect">
            <a:avLst/>
          </a:prstGeom>
          <a:solidFill>
            <a:srgbClr val="FDFB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0"/>
          <p:cNvGraphicFramePr/>
          <p:nvPr>
            <p:extLst>
              <p:ext uri="{D42A27DB-BD31-4B8C-83A1-F6EECF244321}">
                <p14:modId xmlns:p14="http://schemas.microsoft.com/office/powerpoint/2010/main" val="3583302412"/>
              </p:ext>
            </p:extLst>
          </p:nvPr>
        </p:nvGraphicFramePr>
        <p:xfrm>
          <a:off x="478500" y="748512"/>
          <a:ext cx="8205450" cy="553760"/>
        </p:xfrm>
        <a:graphic>
          <a:graphicData uri="http://schemas.openxmlformats.org/drawingml/2006/table">
            <a:tbl>
              <a:tblPr>
                <a:noFill/>
                <a:tableStyleId>{8BFA3B82-0B14-4D30-A9CE-952FDBE51B78}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단위 프로세스 ID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SAS-AMC-1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프로세스명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cs typeface="Calibri"/>
                          <a:sym typeface="Calibri"/>
                        </a:rPr>
                        <a:t>로그인</a:t>
                      </a:r>
                      <a:endParaRPr dirty="0"/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작성일자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altLang="ko-KR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2026.08.21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강동현</a:t>
                      </a:r>
                      <a:endParaRPr sz="1200" b="1" i="0" u="none" strike="noStrike" kern="1200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" name="직선 화살표 연결선 2"/>
          <p:cNvCxnSpPr>
            <a:stCxn id="4" idx="2"/>
            <a:endCxn id="5" idx="0"/>
          </p:cNvCxnSpPr>
          <p:nvPr/>
        </p:nvCxnSpPr>
        <p:spPr>
          <a:xfrm>
            <a:off x="1346825" y="1831558"/>
            <a:ext cx="4200" cy="35449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모서리가 둥근 직사각형 3"/>
          <p:cNvSpPr/>
          <p:nvPr/>
        </p:nvSpPr>
        <p:spPr>
          <a:xfrm>
            <a:off x="811566" y="1479127"/>
            <a:ext cx="1070517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mtClean="0">
                <a:solidFill>
                  <a:schemeClr val="tx1"/>
                </a:solidFill>
              </a:rPr>
              <a:t>접속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815766" y="2186048"/>
            <a:ext cx="1070517" cy="36654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mtClean="0">
                <a:solidFill>
                  <a:schemeClr val="tx1"/>
                </a:solidFill>
              </a:rPr>
              <a:t>로그인화면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" name="다이아몬드 6"/>
          <p:cNvSpPr/>
          <p:nvPr/>
        </p:nvSpPr>
        <p:spPr>
          <a:xfrm>
            <a:off x="2565943" y="4105897"/>
            <a:ext cx="1160278" cy="526547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등록된 아이디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9" name="평행 사변형 8"/>
          <p:cNvSpPr/>
          <p:nvPr/>
        </p:nvSpPr>
        <p:spPr>
          <a:xfrm>
            <a:off x="755939" y="3171336"/>
            <a:ext cx="1186388" cy="338814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아이디 </a:t>
            </a:r>
            <a:endParaRPr lang="en-US" altLang="ko-KR" sz="9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패스워드 입력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7484055" y="4196904"/>
            <a:ext cx="1070517" cy="33881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mtClean="0">
                <a:solidFill>
                  <a:schemeClr val="tx1"/>
                </a:solidFill>
              </a:rPr>
              <a:t>로그인 성공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820932" y="4196904"/>
            <a:ext cx="1070517" cy="33881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서버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/>
          <p:cNvCxnSpPr>
            <a:stCxn id="5" idx="2"/>
            <a:endCxn id="9" idx="1"/>
          </p:cNvCxnSpPr>
          <p:nvPr/>
        </p:nvCxnSpPr>
        <p:spPr>
          <a:xfrm>
            <a:off x="1351025" y="2552595"/>
            <a:ext cx="40460" cy="6187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다이아몬드 54"/>
          <p:cNvSpPr/>
          <p:nvPr/>
        </p:nvSpPr>
        <p:spPr>
          <a:xfrm>
            <a:off x="6046777" y="2108907"/>
            <a:ext cx="1160278" cy="526547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비밀</a:t>
            </a:r>
            <a:endParaRPr lang="en-US" altLang="ko-KR" sz="9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번호 일치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6" name="다이아몬드 55"/>
          <p:cNvSpPr/>
          <p:nvPr/>
        </p:nvSpPr>
        <p:spPr>
          <a:xfrm>
            <a:off x="4886499" y="2800015"/>
            <a:ext cx="1160278" cy="526547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로그인 실패 </a:t>
            </a:r>
            <a:r>
              <a:rPr lang="en-US" altLang="ko-KR" sz="900" dirty="0" smtClean="0">
                <a:solidFill>
                  <a:schemeClr val="tx1"/>
                </a:solidFill>
              </a:rPr>
              <a:t>5</a:t>
            </a:r>
            <a:r>
              <a:rPr lang="ko-KR" altLang="en-US" sz="900" dirty="0" smtClean="0">
                <a:solidFill>
                  <a:schemeClr val="tx1"/>
                </a:solidFill>
              </a:rPr>
              <a:t>회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8" name="다이아몬드 57"/>
          <p:cNvSpPr/>
          <p:nvPr/>
        </p:nvSpPr>
        <p:spPr>
          <a:xfrm>
            <a:off x="3726221" y="3445029"/>
            <a:ext cx="1160278" cy="526547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잠금 계정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63" name="직선 화살표 연결선 62"/>
          <p:cNvCxnSpPr>
            <a:stCxn id="9" idx="4"/>
            <a:endCxn id="15" idx="0"/>
          </p:cNvCxnSpPr>
          <p:nvPr/>
        </p:nvCxnSpPr>
        <p:spPr>
          <a:xfrm>
            <a:off x="1349133" y="3510150"/>
            <a:ext cx="7058" cy="68675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>
            <a:stCxn id="15" idx="3"/>
            <a:endCxn id="7" idx="1"/>
          </p:cNvCxnSpPr>
          <p:nvPr/>
        </p:nvCxnSpPr>
        <p:spPr>
          <a:xfrm>
            <a:off x="1891449" y="4366311"/>
            <a:ext cx="674494" cy="286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78"/>
          <p:cNvCxnSpPr>
            <a:stCxn id="7" idx="0"/>
            <a:endCxn id="5" idx="3"/>
          </p:cNvCxnSpPr>
          <p:nvPr/>
        </p:nvCxnSpPr>
        <p:spPr>
          <a:xfrm rot="16200000" flipV="1">
            <a:off x="1647896" y="2607710"/>
            <a:ext cx="1736575" cy="1259799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/>
          <p:cNvCxnSpPr>
            <a:stCxn id="7" idx="3"/>
            <a:endCxn id="58" idx="1"/>
          </p:cNvCxnSpPr>
          <p:nvPr/>
        </p:nvCxnSpPr>
        <p:spPr>
          <a:xfrm flipV="1">
            <a:off x="3726221" y="3708303"/>
            <a:ext cx="0" cy="66086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꺾인 연결선 84"/>
          <p:cNvCxnSpPr>
            <a:stCxn id="58" idx="0"/>
            <a:endCxn id="5" idx="3"/>
          </p:cNvCxnSpPr>
          <p:nvPr/>
        </p:nvCxnSpPr>
        <p:spPr>
          <a:xfrm rot="16200000" flipV="1">
            <a:off x="2558469" y="1697137"/>
            <a:ext cx="1075707" cy="2420077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/>
          <p:cNvCxnSpPr>
            <a:stCxn id="58" idx="3"/>
            <a:endCxn id="56" idx="1"/>
          </p:cNvCxnSpPr>
          <p:nvPr/>
        </p:nvCxnSpPr>
        <p:spPr>
          <a:xfrm flipV="1">
            <a:off x="4886499" y="3063289"/>
            <a:ext cx="0" cy="64501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>
            <a:stCxn id="55" idx="1"/>
            <a:endCxn id="5" idx="3"/>
          </p:cNvCxnSpPr>
          <p:nvPr/>
        </p:nvCxnSpPr>
        <p:spPr>
          <a:xfrm flipH="1" flipV="1">
            <a:off x="1886283" y="2369322"/>
            <a:ext cx="4160494" cy="285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>
            <a:stCxn id="56" idx="3"/>
            <a:endCxn id="55" idx="1"/>
          </p:cNvCxnSpPr>
          <p:nvPr/>
        </p:nvCxnSpPr>
        <p:spPr>
          <a:xfrm flipV="1">
            <a:off x="6046777" y="2372181"/>
            <a:ext cx="0" cy="69110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꺾인 연결선 122"/>
          <p:cNvCxnSpPr>
            <a:stCxn id="55" idx="3"/>
            <a:endCxn id="14" idx="0"/>
          </p:cNvCxnSpPr>
          <p:nvPr/>
        </p:nvCxnSpPr>
        <p:spPr>
          <a:xfrm>
            <a:off x="7207055" y="2372181"/>
            <a:ext cx="812259" cy="1824723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꺾인 연결선 191"/>
          <p:cNvCxnSpPr>
            <a:stCxn id="56" idx="0"/>
            <a:endCxn id="5" idx="3"/>
          </p:cNvCxnSpPr>
          <p:nvPr/>
        </p:nvCxnSpPr>
        <p:spPr>
          <a:xfrm rot="16200000" flipV="1">
            <a:off x="3461115" y="794491"/>
            <a:ext cx="430693" cy="3580355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688007" y="4122475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Y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2903705" y="3873006"/>
            <a:ext cx="2872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N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4832420" y="3469928"/>
            <a:ext cx="2872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N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4049085" y="3237610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Y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5190331" y="2577273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Y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7201168" y="2139804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Y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6053615" y="2838883"/>
            <a:ext cx="2872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N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5804294" y="2139804"/>
            <a:ext cx="2872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N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16828" y="4603732"/>
            <a:ext cx="17459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Spring Security </a:t>
            </a:r>
            <a:r>
              <a:rPr lang="ko-KR" altLang="en-US" sz="800" dirty="0"/>
              <a:t>인증 필터 가동 및 </a:t>
            </a:r>
            <a:endParaRPr lang="en-US" altLang="ko-KR" sz="800" dirty="0" smtClean="0"/>
          </a:p>
          <a:p>
            <a:r>
              <a:rPr lang="en-US" altLang="ko-KR" sz="800" dirty="0" smtClean="0"/>
              <a:t>Oracle </a:t>
            </a:r>
            <a:r>
              <a:rPr lang="en-US" altLang="ko-KR" sz="800" dirty="0"/>
              <a:t>DB </a:t>
            </a:r>
            <a:r>
              <a:rPr lang="ko-KR" altLang="en-US" sz="800" dirty="0"/>
              <a:t>조회</a:t>
            </a:r>
          </a:p>
        </p:txBody>
      </p:sp>
    </p:spTree>
    <p:extLst>
      <p:ext uri="{BB962C8B-B14F-4D97-AF65-F5344CB8AC3E}">
        <p14:creationId xmlns:p14="http://schemas.microsoft.com/office/powerpoint/2010/main" val="2758228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18525" y="19100"/>
            <a:ext cx="9125400" cy="50799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97125" y="682556"/>
            <a:ext cx="8946300" cy="4372200"/>
          </a:xfrm>
          <a:prstGeom prst="roundRect">
            <a:avLst>
              <a:gd name="adj" fmla="val 3690"/>
            </a:avLst>
          </a:prstGeom>
          <a:solidFill>
            <a:schemeClr val="lt1"/>
          </a:solidFill>
          <a:ln>
            <a:noFill/>
          </a:ln>
          <a:effectLst>
            <a:outerShdw dist="76200" dir="21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</a:t>
            </a:r>
          </a:p>
          <a:p>
            <a:pPr algn="ctr">
              <a:buClr>
                <a:srgbClr val="FFFFFF"/>
              </a:buClr>
              <a:buSzPts val="1400"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  </a:t>
            </a:r>
            <a:endParaRPr sz="1400" b="0" i="0" u="none" strike="noStrike" cap="none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97125" y="138364"/>
            <a:ext cx="53199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BD4"/>
              </a:buClr>
              <a:buSzPts val="2850"/>
              <a:buFont typeface="Arial"/>
              <a:buNone/>
            </a:pPr>
            <a:r>
              <a:rPr lang="ko-KR" altLang="en-US" sz="2850" b="1" dirty="0" smtClean="0">
                <a:solidFill>
                  <a:schemeClr val="bg1"/>
                </a:solidFill>
              </a:rPr>
              <a:t>로그인 및 세션 관리</a:t>
            </a:r>
            <a:endParaRPr sz="285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-6123" y="-6255"/>
            <a:ext cx="78600" cy="592800"/>
          </a:xfrm>
          <a:prstGeom prst="rect">
            <a:avLst/>
          </a:prstGeom>
          <a:solidFill>
            <a:srgbClr val="FDFB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0"/>
          <p:cNvGraphicFramePr/>
          <p:nvPr>
            <p:extLst>
              <p:ext uri="{D42A27DB-BD31-4B8C-83A1-F6EECF244321}">
                <p14:modId xmlns:p14="http://schemas.microsoft.com/office/powerpoint/2010/main" val="174930478"/>
              </p:ext>
            </p:extLst>
          </p:nvPr>
        </p:nvGraphicFramePr>
        <p:xfrm>
          <a:off x="478500" y="748512"/>
          <a:ext cx="8205450" cy="553760"/>
        </p:xfrm>
        <a:graphic>
          <a:graphicData uri="http://schemas.openxmlformats.org/drawingml/2006/table">
            <a:tbl>
              <a:tblPr>
                <a:noFill/>
                <a:tableStyleId>{8BFA3B82-0B14-4D30-A9CE-952FDBE51B78}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단위 프로세스 ID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SAS-AMC-2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프로세스명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cs typeface="Calibri"/>
                          <a:sym typeface="Calibri"/>
                        </a:rPr>
                        <a:t>로그아웃</a:t>
                      </a:r>
                      <a:endParaRPr dirty="0"/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작성일자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altLang="ko-KR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2026.08.24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강동현</a:t>
                      </a:r>
                      <a:endParaRPr sz="1200" b="1" i="0" u="none" strike="noStrike" kern="1200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" name="직선 화살표 연결선 2"/>
          <p:cNvCxnSpPr>
            <a:stCxn id="4" idx="2"/>
            <a:endCxn id="5" idx="0"/>
          </p:cNvCxnSpPr>
          <p:nvPr/>
        </p:nvCxnSpPr>
        <p:spPr>
          <a:xfrm>
            <a:off x="4581095" y="1978848"/>
            <a:ext cx="0" cy="57973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모서리가 둥근 직사각형 3"/>
          <p:cNvSpPr/>
          <p:nvPr/>
        </p:nvSpPr>
        <p:spPr>
          <a:xfrm>
            <a:off x="4045836" y="1626417"/>
            <a:ext cx="1070517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로그인 성공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045836" y="2558587"/>
            <a:ext cx="1070517" cy="36654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 smtClean="0">
                <a:solidFill>
                  <a:schemeClr val="tx1"/>
                </a:solidFill>
              </a:rPr>
              <a:t>메인화면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" name="다이아몬드 6"/>
          <p:cNvSpPr/>
          <p:nvPr/>
        </p:nvSpPr>
        <p:spPr>
          <a:xfrm>
            <a:off x="2260538" y="2478586"/>
            <a:ext cx="1160278" cy="526547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세션 만료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9" name="평행 사변형 8"/>
          <p:cNvSpPr/>
          <p:nvPr/>
        </p:nvSpPr>
        <p:spPr>
          <a:xfrm>
            <a:off x="3987900" y="3508461"/>
            <a:ext cx="1186388" cy="338814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로그아웃 클릭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4045836" y="4430602"/>
            <a:ext cx="1070517" cy="33881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로그아웃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8" name="다이아몬드 57"/>
          <p:cNvSpPr/>
          <p:nvPr/>
        </p:nvSpPr>
        <p:spPr>
          <a:xfrm>
            <a:off x="5741606" y="2476853"/>
            <a:ext cx="1160278" cy="526547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타 기기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동시 로그인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2551278" y="2248535"/>
            <a:ext cx="2872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N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2562138" y="2956690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Y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6321040" y="300171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Y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6321040" y="2217317"/>
            <a:ext cx="2872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N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cxnSp>
        <p:nvCxnSpPr>
          <p:cNvPr id="65" name="꺾인 연결선 64"/>
          <p:cNvCxnSpPr>
            <a:stCxn id="7" idx="0"/>
            <a:endCxn id="5" idx="0"/>
          </p:cNvCxnSpPr>
          <p:nvPr/>
        </p:nvCxnSpPr>
        <p:spPr>
          <a:xfrm rot="16200000" flipH="1">
            <a:off x="3670885" y="1648377"/>
            <a:ext cx="80001" cy="1740418"/>
          </a:xfrm>
          <a:prstGeom prst="bentConnector3">
            <a:avLst>
              <a:gd name="adj1" fmla="val -171445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/>
          <p:cNvCxnSpPr>
            <a:stCxn id="5" idx="2"/>
            <a:endCxn id="9" idx="0"/>
          </p:cNvCxnSpPr>
          <p:nvPr/>
        </p:nvCxnSpPr>
        <p:spPr>
          <a:xfrm flipH="1">
            <a:off x="4581094" y="2925134"/>
            <a:ext cx="1" cy="58332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143"/>
          <p:cNvCxnSpPr>
            <a:stCxn id="9" idx="4"/>
            <a:endCxn id="14" idx="0"/>
          </p:cNvCxnSpPr>
          <p:nvPr/>
        </p:nvCxnSpPr>
        <p:spPr>
          <a:xfrm>
            <a:off x="4581094" y="3847275"/>
            <a:ext cx="1" cy="58332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 171"/>
          <p:cNvCxnSpPr>
            <a:stCxn id="58" idx="0"/>
            <a:endCxn id="5" idx="0"/>
          </p:cNvCxnSpPr>
          <p:nvPr/>
        </p:nvCxnSpPr>
        <p:spPr>
          <a:xfrm rot="16200000" flipH="1" flipV="1">
            <a:off x="5410553" y="1647395"/>
            <a:ext cx="81734" cy="1740650"/>
          </a:xfrm>
          <a:prstGeom prst="bentConnector3">
            <a:avLst>
              <a:gd name="adj1" fmla="val -167813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꺾인 연결선 174"/>
          <p:cNvCxnSpPr>
            <a:stCxn id="7" idx="2"/>
            <a:endCxn id="14" idx="1"/>
          </p:cNvCxnSpPr>
          <p:nvPr/>
        </p:nvCxnSpPr>
        <p:spPr>
          <a:xfrm rot="16200000" flipH="1">
            <a:off x="2645818" y="3199991"/>
            <a:ext cx="1594876" cy="1205159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 177"/>
          <p:cNvCxnSpPr>
            <a:stCxn id="58" idx="2"/>
            <a:endCxn id="14" idx="3"/>
          </p:cNvCxnSpPr>
          <p:nvPr/>
        </p:nvCxnSpPr>
        <p:spPr>
          <a:xfrm rot="5400000">
            <a:off x="4920745" y="3199008"/>
            <a:ext cx="1596609" cy="1205392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/>
          <p:cNvCxnSpPr>
            <a:stCxn id="5" idx="3"/>
            <a:endCxn id="58" idx="1"/>
          </p:cNvCxnSpPr>
          <p:nvPr/>
        </p:nvCxnSpPr>
        <p:spPr>
          <a:xfrm flipV="1">
            <a:off x="5116353" y="2740127"/>
            <a:ext cx="625253" cy="173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화살표 연결선 183"/>
          <p:cNvCxnSpPr>
            <a:stCxn id="5" idx="1"/>
            <a:endCxn id="7" idx="3"/>
          </p:cNvCxnSpPr>
          <p:nvPr/>
        </p:nvCxnSpPr>
        <p:spPr>
          <a:xfrm flipH="1" flipV="1">
            <a:off x="3420816" y="2741860"/>
            <a:ext cx="625020" cy="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860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18525" y="19100"/>
            <a:ext cx="9125400" cy="50799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97125" y="682556"/>
            <a:ext cx="8946300" cy="4372200"/>
          </a:xfrm>
          <a:prstGeom prst="roundRect">
            <a:avLst>
              <a:gd name="adj" fmla="val 3690"/>
            </a:avLst>
          </a:prstGeom>
          <a:solidFill>
            <a:schemeClr val="lt1"/>
          </a:solidFill>
          <a:ln>
            <a:noFill/>
          </a:ln>
          <a:effectLst>
            <a:outerShdw dist="76200" dir="21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</a:t>
            </a:r>
          </a:p>
          <a:p>
            <a:pPr algn="ctr">
              <a:buClr>
                <a:srgbClr val="FFFFFF"/>
              </a:buClr>
              <a:buSzPts val="1400"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  </a:t>
            </a:r>
            <a:endParaRPr sz="1400" b="0" i="0" u="none" strike="noStrike" cap="none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97125" y="138364"/>
            <a:ext cx="53199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BD4"/>
              </a:buClr>
              <a:buSzPts val="2850"/>
              <a:buFont typeface="Arial"/>
              <a:buNone/>
            </a:pPr>
            <a:r>
              <a:rPr lang="ko-KR" altLang="en-US" sz="2850" b="1" dirty="0" smtClean="0">
                <a:solidFill>
                  <a:schemeClr val="bg1"/>
                </a:solidFill>
              </a:rPr>
              <a:t>로그인 및 세션 관리</a:t>
            </a:r>
            <a:endParaRPr sz="285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-6123" y="-6255"/>
            <a:ext cx="78600" cy="592800"/>
          </a:xfrm>
          <a:prstGeom prst="rect">
            <a:avLst/>
          </a:prstGeom>
          <a:solidFill>
            <a:srgbClr val="FDFB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0"/>
          <p:cNvGraphicFramePr/>
          <p:nvPr>
            <p:extLst>
              <p:ext uri="{D42A27DB-BD31-4B8C-83A1-F6EECF244321}">
                <p14:modId xmlns:p14="http://schemas.microsoft.com/office/powerpoint/2010/main" val="3466521606"/>
              </p:ext>
            </p:extLst>
          </p:nvPr>
        </p:nvGraphicFramePr>
        <p:xfrm>
          <a:off x="478500" y="748512"/>
          <a:ext cx="8205450" cy="553760"/>
        </p:xfrm>
        <a:graphic>
          <a:graphicData uri="http://schemas.openxmlformats.org/drawingml/2006/table">
            <a:tbl>
              <a:tblPr>
                <a:noFill/>
                <a:tableStyleId>{8BFA3B82-0B14-4D30-A9CE-952FDBE51B78}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단위 프로세스 ID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SAS-AMC-3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프로세스명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cs typeface="Calibri"/>
                          <a:sym typeface="Calibri"/>
                        </a:rPr>
                        <a:t>계정 관리</a:t>
                      </a:r>
                      <a:endParaRPr dirty="0"/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작성일자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altLang="ko-KR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2026.08.24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강동현</a:t>
                      </a:r>
                      <a:endParaRPr sz="1200" b="1" i="0" u="none" strike="noStrike" kern="1200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" name="직선 화살표 연결선 2"/>
          <p:cNvCxnSpPr>
            <a:stCxn id="4" idx="2"/>
            <a:endCxn id="5" idx="0"/>
          </p:cNvCxnSpPr>
          <p:nvPr/>
        </p:nvCxnSpPr>
        <p:spPr>
          <a:xfrm>
            <a:off x="2474085" y="2105268"/>
            <a:ext cx="944" cy="35677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모서리가 둥근 직사각형 3"/>
          <p:cNvSpPr/>
          <p:nvPr/>
        </p:nvSpPr>
        <p:spPr>
          <a:xfrm>
            <a:off x="1938826" y="1752837"/>
            <a:ext cx="1070517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로그인 성공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939770" y="2462046"/>
            <a:ext cx="1070517" cy="36654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 smtClean="0">
                <a:solidFill>
                  <a:schemeClr val="tx1"/>
                </a:solidFill>
              </a:rPr>
              <a:t>서브메뉴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9" name="평행 사변형 8"/>
          <p:cNvSpPr/>
          <p:nvPr/>
        </p:nvSpPr>
        <p:spPr>
          <a:xfrm>
            <a:off x="1881265" y="3162087"/>
            <a:ext cx="1186388" cy="338814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직원 이름 선택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442260" y="3834832"/>
            <a:ext cx="1070517" cy="33881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계정 상태 수정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5970318" y="3740287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Y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5247493" y="4225172"/>
            <a:ext cx="2872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N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cxnSp>
        <p:nvCxnSpPr>
          <p:cNvPr id="141" name="직선 화살표 연결선 140"/>
          <p:cNvCxnSpPr>
            <a:stCxn id="5" idx="2"/>
            <a:endCxn id="9" idx="0"/>
          </p:cNvCxnSpPr>
          <p:nvPr/>
        </p:nvCxnSpPr>
        <p:spPr>
          <a:xfrm flipH="1">
            <a:off x="2474459" y="2828593"/>
            <a:ext cx="570" cy="33349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 177"/>
          <p:cNvCxnSpPr>
            <a:stCxn id="37" idx="2"/>
            <a:endCxn id="30" idx="2"/>
          </p:cNvCxnSpPr>
          <p:nvPr/>
        </p:nvCxnSpPr>
        <p:spPr>
          <a:xfrm rot="5400000" flipH="1">
            <a:off x="3950091" y="2710110"/>
            <a:ext cx="79999" cy="3030124"/>
          </a:xfrm>
          <a:prstGeom prst="bentConnector3">
            <a:avLst>
              <a:gd name="adj1" fmla="val -285754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/>
          <p:cNvCxnSpPr>
            <a:stCxn id="36" idx="2"/>
            <a:endCxn id="37" idx="1"/>
          </p:cNvCxnSpPr>
          <p:nvPr/>
        </p:nvCxnSpPr>
        <p:spPr>
          <a:xfrm flipV="1">
            <a:off x="4519664" y="4001898"/>
            <a:ext cx="405350" cy="23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화살표 연결선 183"/>
          <p:cNvCxnSpPr>
            <a:stCxn id="37" idx="3"/>
            <a:endCxn id="14" idx="1"/>
          </p:cNvCxnSpPr>
          <p:nvPr/>
        </p:nvCxnSpPr>
        <p:spPr>
          <a:xfrm>
            <a:off x="6085292" y="4001898"/>
            <a:ext cx="356968" cy="23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939770" y="3818625"/>
            <a:ext cx="1070517" cy="36654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직원 관리 화면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/>
          <p:cNvCxnSpPr>
            <a:stCxn id="9" idx="4"/>
            <a:endCxn id="30" idx="0"/>
          </p:cNvCxnSpPr>
          <p:nvPr/>
        </p:nvCxnSpPr>
        <p:spPr>
          <a:xfrm>
            <a:off x="2474459" y="3500901"/>
            <a:ext cx="570" cy="3177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평행 사변형 35"/>
          <p:cNvSpPr/>
          <p:nvPr/>
        </p:nvSpPr>
        <p:spPr>
          <a:xfrm>
            <a:off x="3375628" y="3834832"/>
            <a:ext cx="1186388" cy="338814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직원 </a:t>
            </a:r>
            <a:endParaRPr lang="en-US" altLang="ko-KR" sz="9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정보 변경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37" name="다이아몬드 36"/>
          <p:cNvSpPr/>
          <p:nvPr/>
        </p:nvSpPr>
        <p:spPr>
          <a:xfrm>
            <a:off x="4925014" y="3738624"/>
            <a:ext cx="1160278" cy="526547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smtClean="0">
                <a:solidFill>
                  <a:schemeClr val="tx1"/>
                </a:solidFill>
              </a:rPr>
              <a:t>비밀번호 양식 확인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43" name="직선 화살표 연결선 42"/>
          <p:cNvCxnSpPr>
            <a:stCxn id="30" idx="3"/>
            <a:endCxn id="36" idx="5"/>
          </p:cNvCxnSpPr>
          <p:nvPr/>
        </p:nvCxnSpPr>
        <p:spPr>
          <a:xfrm>
            <a:off x="3010287" y="4001899"/>
            <a:ext cx="407693" cy="234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10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18525" y="19100"/>
            <a:ext cx="9125400" cy="50799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97125" y="682556"/>
            <a:ext cx="8946300" cy="4372200"/>
          </a:xfrm>
          <a:prstGeom prst="roundRect">
            <a:avLst>
              <a:gd name="adj" fmla="val 3690"/>
            </a:avLst>
          </a:prstGeom>
          <a:solidFill>
            <a:schemeClr val="lt1"/>
          </a:solidFill>
          <a:ln>
            <a:noFill/>
          </a:ln>
          <a:effectLst>
            <a:outerShdw dist="76200" dir="21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</a:t>
            </a:r>
          </a:p>
          <a:p>
            <a:pPr algn="ctr">
              <a:buClr>
                <a:srgbClr val="FFFFFF"/>
              </a:buClr>
              <a:buSzPts val="1400"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  </a:t>
            </a:r>
            <a:endParaRPr sz="1400" b="0" i="0" u="none" strike="noStrike" cap="none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97125" y="138364"/>
            <a:ext cx="53199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BD4"/>
              </a:buClr>
              <a:buSzPts val="2850"/>
              <a:buFont typeface="Arial"/>
              <a:buNone/>
            </a:pPr>
            <a:r>
              <a:rPr lang="ko-KR" altLang="en-US" sz="2850" b="1" dirty="0" smtClean="0">
                <a:solidFill>
                  <a:schemeClr val="bg1"/>
                </a:solidFill>
              </a:rPr>
              <a:t>로그인 및 세션 관리</a:t>
            </a:r>
            <a:endParaRPr sz="285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-6123" y="-6255"/>
            <a:ext cx="78600" cy="592800"/>
          </a:xfrm>
          <a:prstGeom prst="rect">
            <a:avLst/>
          </a:prstGeom>
          <a:solidFill>
            <a:srgbClr val="FDFB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0"/>
          <p:cNvGraphicFramePr/>
          <p:nvPr>
            <p:extLst>
              <p:ext uri="{D42A27DB-BD31-4B8C-83A1-F6EECF244321}">
                <p14:modId xmlns:p14="http://schemas.microsoft.com/office/powerpoint/2010/main" val="4026018808"/>
              </p:ext>
            </p:extLst>
          </p:nvPr>
        </p:nvGraphicFramePr>
        <p:xfrm>
          <a:off x="478500" y="748512"/>
          <a:ext cx="8205450" cy="553760"/>
        </p:xfrm>
        <a:graphic>
          <a:graphicData uri="http://schemas.openxmlformats.org/drawingml/2006/table">
            <a:tbl>
              <a:tblPr>
                <a:noFill/>
                <a:tableStyleId>{8BFA3B82-0B14-4D30-A9CE-952FDBE51B78}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단위 프로세스 ID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SAS-AMC-4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프로세스명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cs typeface="Calibri"/>
                          <a:sym typeface="Calibri"/>
                        </a:rPr>
                        <a:t>계정 등록</a:t>
                      </a:r>
                      <a:endParaRPr dirty="0"/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작성일자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altLang="ko-KR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2026.08.24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강동현</a:t>
                      </a:r>
                      <a:endParaRPr sz="1200" b="1" i="0" u="none" strike="noStrike" kern="1200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" name="직선 화살표 연결선 2"/>
          <p:cNvCxnSpPr>
            <a:stCxn id="4" idx="2"/>
            <a:endCxn id="5" idx="0"/>
          </p:cNvCxnSpPr>
          <p:nvPr/>
        </p:nvCxnSpPr>
        <p:spPr>
          <a:xfrm flipH="1">
            <a:off x="1576671" y="1980442"/>
            <a:ext cx="1" cy="28009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모서리가 둥근 직사각형 3"/>
          <p:cNvSpPr/>
          <p:nvPr/>
        </p:nvSpPr>
        <p:spPr>
          <a:xfrm>
            <a:off x="1041413" y="1628011"/>
            <a:ext cx="1070517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관리자 로그인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041412" y="2260541"/>
            <a:ext cx="1070517" cy="36654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메인 메뉴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" name="다이아몬드 6"/>
          <p:cNvSpPr/>
          <p:nvPr/>
        </p:nvSpPr>
        <p:spPr>
          <a:xfrm>
            <a:off x="5532935" y="2378681"/>
            <a:ext cx="1160278" cy="526547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smtClean="0">
                <a:solidFill>
                  <a:schemeClr val="tx1"/>
                </a:solidFill>
              </a:rPr>
              <a:t>아이디 중복 확인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" name="평행 사변형 8"/>
          <p:cNvSpPr/>
          <p:nvPr/>
        </p:nvSpPr>
        <p:spPr>
          <a:xfrm>
            <a:off x="983477" y="2907188"/>
            <a:ext cx="1186388" cy="371738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직원 관리 선택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7103342" y="2856744"/>
            <a:ext cx="1070517" cy="33881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직원 등록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8" name="다이아몬드 57"/>
          <p:cNvSpPr/>
          <p:nvPr/>
        </p:nvSpPr>
        <p:spPr>
          <a:xfrm>
            <a:off x="5532935" y="3385337"/>
            <a:ext cx="1160278" cy="526547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smtClean="0">
                <a:solidFill>
                  <a:schemeClr val="tx1"/>
                </a:solidFill>
              </a:rPr>
              <a:t>비밀번호 양식 확인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5863916" y="2137849"/>
            <a:ext cx="2872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N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5871930" y="2878432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Y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6625283" y="3387002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Y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5369175" y="3391502"/>
            <a:ext cx="2872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N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cxnSp>
        <p:nvCxnSpPr>
          <p:cNvPr id="141" name="직선 화살표 연결선 140"/>
          <p:cNvCxnSpPr>
            <a:stCxn id="5" idx="2"/>
            <a:endCxn id="9" idx="0"/>
          </p:cNvCxnSpPr>
          <p:nvPr/>
        </p:nvCxnSpPr>
        <p:spPr>
          <a:xfrm>
            <a:off x="1576671" y="2627088"/>
            <a:ext cx="0" cy="28010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꺾인 연결선 174"/>
          <p:cNvCxnSpPr>
            <a:stCxn id="68" idx="2"/>
            <a:endCxn id="90" idx="1"/>
          </p:cNvCxnSpPr>
          <p:nvPr/>
        </p:nvCxnSpPr>
        <p:spPr>
          <a:xfrm flipV="1">
            <a:off x="2118553" y="3095653"/>
            <a:ext cx="456709" cy="1256252"/>
          </a:xfrm>
          <a:prstGeom prst="bentConnector3">
            <a:avLst>
              <a:gd name="adj1" fmla="val 5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 177"/>
          <p:cNvCxnSpPr>
            <a:stCxn id="93" idx="2"/>
            <a:endCxn id="7" idx="1"/>
          </p:cNvCxnSpPr>
          <p:nvPr/>
        </p:nvCxnSpPr>
        <p:spPr>
          <a:xfrm flipV="1">
            <a:off x="5117122" y="2641955"/>
            <a:ext cx="415813" cy="453416"/>
          </a:xfrm>
          <a:prstGeom prst="bentConnector3">
            <a:avLst>
              <a:gd name="adj1" fmla="val 5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/>
          <p:cNvCxnSpPr>
            <a:stCxn id="26" idx="2"/>
            <a:endCxn id="68" idx="0"/>
          </p:cNvCxnSpPr>
          <p:nvPr/>
        </p:nvCxnSpPr>
        <p:spPr>
          <a:xfrm flipH="1">
            <a:off x="1571826" y="3920381"/>
            <a:ext cx="4845" cy="24565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>
          <a:xfrm>
            <a:off x="1041412" y="3553834"/>
            <a:ext cx="1070517" cy="36654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직원 관리 화면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29" name="직선 화살표 연결선 28"/>
          <p:cNvCxnSpPr>
            <a:stCxn id="9" idx="4"/>
            <a:endCxn id="26" idx="0"/>
          </p:cNvCxnSpPr>
          <p:nvPr/>
        </p:nvCxnSpPr>
        <p:spPr>
          <a:xfrm>
            <a:off x="1576671" y="3278926"/>
            <a:ext cx="0" cy="27490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평행 사변형 67"/>
          <p:cNvSpPr/>
          <p:nvPr/>
        </p:nvSpPr>
        <p:spPr>
          <a:xfrm>
            <a:off x="978632" y="4166036"/>
            <a:ext cx="1186388" cy="371738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직원 등록 선택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2575262" y="2912379"/>
            <a:ext cx="1070517" cy="36654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직원 등록 화면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93" name="평행 사변형 92"/>
          <p:cNvSpPr/>
          <p:nvPr/>
        </p:nvSpPr>
        <p:spPr>
          <a:xfrm>
            <a:off x="3977201" y="2909502"/>
            <a:ext cx="1186388" cy="371738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mtClean="0">
                <a:solidFill>
                  <a:schemeClr val="tx1"/>
                </a:solidFill>
              </a:rPr>
              <a:t>신규 직원 정보 입력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105" name="직선 화살표 연결선 104"/>
          <p:cNvCxnSpPr>
            <a:stCxn id="90" idx="3"/>
            <a:endCxn id="93" idx="5"/>
          </p:cNvCxnSpPr>
          <p:nvPr/>
        </p:nvCxnSpPr>
        <p:spPr>
          <a:xfrm flipV="1">
            <a:off x="3645779" y="3095371"/>
            <a:ext cx="377889" cy="28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/>
          <p:cNvCxnSpPr>
            <a:stCxn id="7" idx="2"/>
            <a:endCxn id="58" idx="0"/>
          </p:cNvCxnSpPr>
          <p:nvPr/>
        </p:nvCxnSpPr>
        <p:spPr>
          <a:xfrm>
            <a:off x="6113074" y="2905228"/>
            <a:ext cx="0" cy="48010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꺾인 연결선 124"/>
          <p:cNvCxnSpPr>
            <a:stCxn id="58" idx="1"/>
            <a:endCxn id="90" idx="2"/>
          </p:cNvCxnSpPr>
          <p:nvPr/>
        </p:nvCxnSpPr>
        <p:spPr>
          <a:xfrm rot="10800000">
            <a:off x="3110521" y="3278927"/>
            <a:ext cx="2422414" cy="369685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127"/>
          <p:cNvCxnSpPr>
            <a:stCxn id="7" idx="0"/>
            <a:endCxn id="90" idx="0"/>
          </p:cNvCxnSpPr>
          <p:nvPr/>
        </p:nvCxnSpPr>
        <p:spPr>
          <a:xfrm rot="16200000" flipH="1" flipV="1">
            <a:off x="4344949" y="1144253"/>
            <a:ext cx="533698" cy="3002553"/>
          </a:xfrm>
          <a:prstGeom prst="bentConnector3">
            <a:avLst>
              <a:gd name="adj1" fmla="val -42833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직사각형 131"/>
          <p:cNvSpPr/>
          <p:nvPr/>
        </p:nvSpPr>
        <p:spPr>
          <a:xfrm>
            <a:off x="7107892" y="3462771"/>
            <a:ext cx="1070517" cy="36654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계정 등록 정보 이메일 발송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34" name="직선 화살표 연결선 33"/>
          <p:cNvCxnSpPr>
            <a:stCxn id="58" idx="3"/>
            <a:endCxn id="132" idx="1"/>
          </p:cNvCxnSpPr>
          <p:nvPr/>
        </p:nvCxnSpPr>
        <p:spPr>
          <a:xfrm flipV="1">
            <a:off x="6693213" y="3646045"/>
            <a:ext cx="414679" cy="256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stCxn id="132" idx="0"/>
            <a:endCxn id="14" idx="2"/>
          </p:cNvCxnSpPr>
          <p:nvPr/>
        </p:nvCxnSpPr>
        <p:spPr>
          <a:xfrm flipH="1" flipV="1">
            <a:off x="7638601" y="3195558"/>
            <a:ext cx="4550" cy="26721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00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18525" y="19100"/>
            <a:ext cx="9125400" cy="50799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108075" y="669364"/>
            <a:ext cx="8946300" cy="4372200"/>
          </a:xfrm>
          <a:prstGeom prst="roundRect">
            <a:avLst>
              <a:gd name="adj" fmla="val 3690"/>
            </a:avLst>
          </a:prstGeom>
          <a:solidFill>
            <a:schemeClr val="lt1"/>
          </a:solidFill>
          <a:ln>
            <a:noFill/>
          </a:ln>
          <a:effectLst>
            <a:outerShdw dist="76200" dir="21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</a:t>
            </a:r>
          </a:p>
          <a:p>
            <a:pPr algn="ctr">
              <a:buClr>
                <a:srgbClr val="FFFFFF"/>
              </a:buClr>
              <a:buSzPts val="1400"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  </a:t>
            </a:r>
            <a:endParaRPr sz="1400" b="0" i="0" u="none" strike="noStrike" cap="none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97125" y="138364"/>
            <a:ext cx="53199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FDFBD4"/>
              </a:buClr>
              <a:buSzPts val="2850"/>
            </a:pPr>
            <a:r>
              <a:rPr lang="ko-KR" altLang="en-US" sz="2850" b="1" dirty="0">
                <a:solidFill>
                  <a:schemeClr val="bg1"/>
                </a:solidFill>
              </a:rPr>
              <a:t>로그인 및 세션 관리</a:t>
            </a:r>
          </a:p>
        </p:txBody>
      </p:sp>
      <p:sp>
        <p:nvSpPr>
          <p:cNvPr id="151" name="Google Shape;151;p20"/>
          <p:cNvSpPr/>
          <p:nvPr/>
        </p:nvSpPr>
        <p:spPr>
          <a:xfrm>
            <a:off x="-6123" y="-6255"/>
            <a:ext cx="78600" cy="592800"/>
          </a:xfrm>
          <a:prstGeom prst="rect">
            <a:avLst/>
          </a:prstGeom>
          <a:solidFill>
            <a:srgbClr val="FDFB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0"/>
          <p:cNvGraphicFramePr/>
          <p:nvPr>
            <p:extLst>
              <p:ext uri="{D42A27DB-BD31-4B8C-83A1-F6EECF244321}">
                <p14:modId xmlns:p14="http://schemas.microsoft.com/office/powerpoint/2010/main" val="3211282426"/>
              </p:ext>
            </p:extLst>
          </p:nvPr>
        </p:nvGraphicFramePr>
        <p:xfrm>
          <a:off x="478500" y="748512"/>
          <a:ext cx="8205450" cy="553760"/>
        </p:xfrm>
        <a:graphic>
          <a:graphicData uri="http://schemas.openxmlformats.org/drawingml/2006/table">
            <a:tbl>
              <a:tblPr>
                <a:noFill/>
                <a:tableStyleId>{8BFA3B82-0B14-4D30-A9CE-952FDBE51B78}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단위 프로세스 ID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SAS-AMC-5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프로세스명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관리자 직원 계정 관리</a:t>
                      </a: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작성일자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altLang="ko-KR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2026.08.24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서기원</a:t>
                      </a:r>
                      <a:endParaRPr sz="1200" b="1" i="0" u="none" strike="noStrike" kern="1200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" name="직선 화살표 연결선 2"/>
          <p:cNvCxnSpPr>
            <a:stCxn id="4" idx="2"/>
            <a:endCxn id="38" idx="0"/>
          </p:cNvCxnSpPr>
          <p:nvPr/>
        </p:nvCxnSpPr>
        <p:spPr>
          <a:xfrm>
            <a:off x="2017385" y="2170738"/>
            <a:ext cx="3633" cy="26271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모서리가 둥근 직사각형 3"/>
          <p:cNvSpPr/>
          <p:nvPr/>
        </p:nvSpPr>
        <p:spPr>
          <a:xfrm>
            <a:off x="1482126" y="1818307"/>
            <a:ext cx="1070517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관리자 </a:t>
            </a:r>
            <a:r>
              <a:rPr lang="ko-KR" altLang="en-US" sz="900" dirty="0" smtClean="0">
                <a:solidFill>
                  <a:schemeClr val="tx1"/>
                </a:solidFill>
              </a:rPr>
              <a:t>로그인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489393" y="3730207"/>
            <a:ext cx="1070517" cy="36654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직원 리스트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9" name="평행 사변형 8"/>
          <p:cNvSpPr/>
          <p:nvPr/>
        </p:nvSpPr>
        <p:spPr>
          <a:xfrm>
            <a:off x="1367099" y="4354462"/>
            <a:ext cx="1315810" cy="338814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대상 </a:t>
            </a:r>
            <a:r>
              <a:rPr lang="ko-KR" altLang="en-US" sz="900" dirty="0" err="1" smtClean="0">
                <a:solidFill>
                  <a:schemeClr val="tx1"/>
                </a:solidFill>
              </a:rPr>
              <a:t>관제원</a:t>
            </a:r>
            <a:r>
              <a:rPr lang="ko-KR" altLang="en-US" sz="900" dirty="0" smtClean="0">
                <a:solidFill>
                  <a:schemeClr val="tx1"/>
                </a:solidFill>
              </a:rPr>
              <a:t> 선택</a:t>
            </a:r>
            <a:endParaRPr lang="en-US" altLang="ko-KR" sz="900" dirty="0" smtClean="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538746" y="3774365"/>
            <a:ext cx="1070517" cy="33881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직원 정보 </a:t>
            </a:r>
            <a:endParaRPr lang="en-US" altLang="ko-KR" sz="9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변경 성공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/>
          <p:cNvCxnSpPr>
            <a:stCxn id="5" idx="2"/>
            <a:endCxn id="9" idx="0"/>
          </p:cNvCxnSpPr>
          <p:nvPr/>
        </p:nvCxnSpPr>
        <p:spPr>
          <a:xfrm>
            <a:off x="2024652" y="4096754"/>
            <a:ext cx="352" cy="25770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/>
          <p:cNvSpPr/>
          <p:nvPr/>
        </p:nvSpPr>
        <p:spPr>
          <a:xfrm>
            <a:off x="6358723" y="2356897"/>
            <a:ext cx="1516020" cy="447322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Oracle DB </a:t>
            </a:r>
            <a:r>
              <a:rPr lang="ko-KR" altLang="en-US" sz="900" dirty="0" smtClean="0">
                <a:solidFill>
                  <a:schemeClr val="tx1"/>
                </a:solidFill>
              </a:rPr>
              <a:t>연동 및 </a:t>
            </a:r>
            <a:endParaRPr lang="en-US" altLang="ko-KR" sz="9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권한 변경 트랜잭션 보장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93" name="평행 사변형 92"/>
          <p:cNvSpPr/>
          <p:nvPr/>
        </p:nvSpPr>
        <p:spPr>
          <a:xfrm>
            <a:off x="6299621" y="3077927"/>
            <a:ext cx="1548769" cy="419564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로그 적재 및</a:t>
            </a:r>
            <a:endParaRPr lang="en-US" altLang="ko-KR" sz="9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웹소켓 실시간 알림</a:t>
            </a:r>
            <a:endParaRPr lang="en-US" altLang="ko-KR" sz="900" dirty="0" smtClean="0">
              <a:solidFill>
                <a:schemeClr val="tx1"/>
              </a:solidFill>
            </a:endParaRPr>
          </a:p>
        </p:txBody>
      </p:sp>
      <p:cxnSp>
        <p:nvCxnSpPr>
          <p:cNvPr id="103" name="직선 화살표 연결선 102"/>
          <p:cNvCxnSpPr>
            <a:stCxn id="81" idx="2"/>
            <a:endCxn id="93" idx="1"/>
          </p:cNvCxnSpPr>
          <p:nvPr/>
        </p:nvCxnSpPr>
        <p:spPr>
          <a:xfrm>
            <a:off x="7116733" y="2804219"/>
            <a:ext cx="9718" cy="27370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/>
          <p:cNvCxnSpPr>
            <a:stCxn id="93" idx="4"/>
            <a:endCxn id="14" idx="0"/>
          </p:cNvCxnSpPr>
          <p:nvPr/>
        </p:nvCxnSpPr>
        <p:spPr>
          <a:xfrm flipH="1">
            <a:off x="7074005" y="3497491"/>
            <a:ext cx="1" cy="27687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1485759" y="2433451"/>
            <a:ext cx="1070517" cy="36654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메인 메뉴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46" name="평행 사변형 45"/>
          <p:cNvSpPr/>
          <p:nvPr/>
        </p:nvSpPr>
        <p:spPr>
          <a:xfrm>
            <a:off x="1382339" y="3061310"/>
            <a:ext cx="1277041" cy="338814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직원 관리 선택</a:t>
            </a:r>
            <a:endParaRPr lang="en-US" altLang="ko-KR" sz="900" dirty="0" smtClean="0">
              <a:solidFill>
                <a:schemeClr val="tx1"/>
              </a:solidFill>
            </a:endParaRPr>
          </a:p>
        </p:txBody>
      </p:sp>
      <p:cxnSp>
        <p:nvCxnSpPr>
          <p:cNvPr id="47" name="직선 화살표 연결선 46"/>
          <p:cNvCxnSpPr>
            <a:stCxn id="38" idx="2"/>
            <a:endCxn id="46" idx="0"/>
          </p:cNvCxnSpPr>
          <p:nvPr/>
        </p:nvCxnSpPr>
        <p:spPr>
          <a:xfrm flipH="1">
            <a:off x="2020860" y="2799998"/>
            <a:ext cx="158" cy="26131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stCxn id="46" idx="4"/>
            <a:endCxn id="5" idx="0"/>
          </p:cNvCxnSpPr>
          <p:nvPr/>
        </p:nvCxnSpPr>
        <p:spPr>
          <a:xfrm>
            <a:off x="2020860" y="3400124"/>
            <a:ext cx="3792" cy="33008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/>
          <p:cNvSpPr/>
          <p:nvPr/>
        </p:nvSpPr>
        <p:spPr>
          <a:xfrm>
            <a:off x="2936615" y="4352831"/>
            <a:ext cx="1165877" cy="34044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직원 관리 화면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84" name="평행 사변형 83"/>
          <p:cNvSpPr/>
          <p:nvPr/>
        </p:nvSpPr>
        <p:spPr>
          <a:xfrm>
            <a:off x="4457574" y="4248399"/>
            <a:ext cx="1534351" cy="540078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직원 정보</a:t>
            </a:r>
            <a:r>
              <a:rPr lang="en-US" altLang="ko-KR" sz="900" dirty="0" smtClean="0">
                <a:solidFill>
                  <a:schemeClr val="tx1"/>
                </a:solidFill>
              </a:rPr>
              <a:t>, </a:t>
            </a:r>
            <a:r>
              <a:rPr lang="ko-KR" altLang="en-US" sz="900" dirty="0" smtClean="0">
                <a:solidFill>
                  <a:schemeClr val="tx1"/>
                </a:solidFill>
              </a:rPr>
              <a:t>권한</a:t>
            </a:r>
            <a:r>
              <a:rPr lang="en-US" altLang="ko-KR" sz="900" dirty="0" smtClean="0">
                <a:solidFill>
                  <a:schemeClr val="tx1"/>
                </a:solidFill>
              </a:rPr>
              <a:t>, </a:t>
            </a:r>
            <a:r>
              <a:rPr lang="ko-KR" altLang="en-US" sz="900" dirty="0" smtClean="0">
                <a:solidFill>
                  <a:schemeClr val="tx1"/>
                </a:solidFill>
              </a:rPr>
              <a:t>비밀번호 초기화</a:t>
            </a:r>
            <a:r>
              <a:rPr lang="en-US" altLang="ko-KR" sz="900" dirty="0" smtClean="0">
                <a:solidFill>
                  <a:schemeClr val="tx1"/>
                </a:solidFill>
              </a:rPr>
              <a:t>,  </a:t>
            </a:r>
            <a:r>
              <a:rPr lang="ko-KR" altLang="en-US" sz="900" dirty="0" smtClean="0">
                <a:solidFill>
                  <a:schemeClr val="tx1"/>
                </a:solidFill>
              </a:rPr>
              <a:t>휴면 상태 수정</a:t>
            </a:r>
            <a:r>
              <a:rPr lang="en-US" altLang="ko-KR" sz="900" dirty="0" smtClean="0">
                <a:solidFill>
                  <a:schemeClr val="tx1"/>
                </a:solidFill>
              </a:rPr>
              <a:t>,</a:t>
            </a:r>
            <a:r>
              <a:rPr lang="ko-KR" altLang="en-US" sz="900" dirty="0" smtClean="0">
                <a:solidFill>
                  <a:schemeClr val="tx1"/>
                </a:solidFill>
              </a:rPr>
              <a:t> 등</a:t>
            </a:r>
            <a:endParaRPr lang="en-US" altLang="ko-KR" sz="900" dirty="0" smtClean="0">
              <a:solidFill>
                <a:schemeClr val="tx1"/>
              </a:solidFill>
            </a:endParaRPr>
          </a:p>
        </p:txBody>
      </p:sp>
      <p:sp>
        <p:nvSpPr>
          <p:cNvPr id="92" name="다이아몬드 91"/>
          <p:cNvSpPr/>
          <p:nvPr/>
        </p:nvSpPr>
        <p:spPr>
          <a:xfrm>
            <a:off x="4647189" y="3423834"/>
            <a:ext cx="1160278" cy="526547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smtClean="0">
                <a:solidFill>
                  <a:schemeClr val="tx1"/>
                </a:solidFill>
              </a:rPr>
              <a:t>아이디 중복 확인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6" name="다이아몬드 95"/>
          <p:cNvSpPr/>
          <p:nvPr/>
        </p:nvSpPr>
        <p:spPr>
          <a:xfrm>
            <a:off x="4649767" y="2620838"/>
            <a:ext cx="1160278" cy="526547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smtClean="0">
                <a:solidFill>
                  <a:schemeClr val="tx1"/>
                </a:solidFill>
              </a:rPr>
              <a:t>비밀번호 양식 확인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7" name="다이아몬드 96"/>
          <p:cNvSpPr/>
          <p:nvPr/>
        </p:nvSpPr>
        <p:spPr>
          <a:xfrm>
            <a:off x="4647189" y="1830350"/>
            <a:ext cx="1160278" cy="526547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smtClean="0">
                <a:solidFill>
                  <a:schemeClr val="tx1"/>
                </a:solidFill>
              </a:rPr>
              <a:t>이메일 양식 확인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98" name="꺾인 연결선 97"/>
          <p:cNvCxnSpPr>
            <a:stCxn id="9" idx="2"/>
            <a:endCxn id="78" idx="1"/>
          </p:cNvCxnSpPr>
          <p:nvPr/>
        </p:nvCxnSpPr>
        <p:spPr>
          <a:xfrm flipV="1">
            <a:off x="2640557" y="4523054"/>
            <a:ext cx="296058" cy="815"/>
          </a:xfrm>
          <a:prstGeom prst="bentConnector3">
            <a:avLst>
              <a:gd name="adj1" fmla="val 5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/>
          <p:cNvCxnSpPr>
            <a:stCxn id="92" idx="0"/>
            <a:endCxn id="96" idx="2"/>
          </p:cNvCxnSpPr>
          <p:nvPr/>
        </p:nvCxnSpPr>
        <p:spPr>
          <a:xfrm flipV="1">
            <a:off x="5227328" y="3147385"/>
            <a:ext cx="2578" cy="27644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/>
          <p:cNvCxnSpPr>
            <a:stCxn id="96" idx="0"/>
            <a:endCxn id="97" idx="2"/>
          </p:cNvCxnSpPr>
          <p:nvPr/>
        </p:nvCxnSpPr>
        <p:spPr>
          <a:xfrm flipH="1" flipV="1">
            <a:off x="5227328" y="2356897"/>
            <a:ext cx="2578" cy="2639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꺾인 연결선 117"/>
          <p:cNvCxnSpPr>
            <a:stCxn id="92" idx="1"/>
            <a:endCxn id="78" idx="0"/>
          </p:cNvCxnSpPr>
          <p:nvPr/>
        </p:nvCxnSpPr>
        <p:spPr>
          <a:xfrm rot="10800000" flipV="1">
            <a:off x="3519555" y="3687107"/>
            <a:ext cx="1127635" cy="665723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꺾인 연결선 120"/>
          <p:cNvCxnSpPr>
            <a:stCxn id="96" idx="1"/>
            <a:endCxn id="78" idx="0"/>
          </p:cNvCxnSpPr>
          <p:nvPr/>
        </p:nvCxnSpPr>
        <p:spPr>
          <a:xfrm rot="10800000" flipV="1">
            <a:off x="3519555" y="2884111"/>
            <a:ext cx="1130213" cy="1468719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꺾인 연결선 123"/>
          <p:cNvCxnSpPr>
            <a:stCxn id="97" idx="1"/>
            <a:endCxn id="78" idx="0"/>
          </p:cNvCxnSpPr>
          <p:nvPr/>
        </p:nvCxnSpPr>
        <p:spPr>
          <a:xfrm rot="10800000" flipV="1">
            <a:off x="3519555" y="2093623"/>
            <a:ext cx="1127635" cy="2259207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꺾인 연결선 126"/>
          <p:cNvCxnSpPr>
            <a:stCxn id="97" idx="3"/>
            <a:endCxn id="81" idx="0"/>
          </p:cNvCxnSpPr>
          <p:nvPr/>
        </p:nvCxnSpPr>
        <p:spPr>
          <a:xfrm>
            <a:off x="5807467" y="2093624"/>
            <a:ext cx="1309266" cy="263273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5200316" y="3206102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Y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4490109" y="3465272"/>
            <a:ext cx="2872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N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4490109" y="2619151"/>
            <a:ext cx="2872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N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5200316" y="2389557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Y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5728805" y="1824595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Y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4490109" y="1819336"/>
            <a:ext cx="2872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N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cxnSp>
        <p:nvCxnSpPr>
          <p:cNvPr id="48" name="직선 화살표 연결선 47"/>
          <p:cNvCxnSpPr>
            <a:stCxn id="78" idx="3"/>
            <a:endCxn id="84" idx="5"/>
          </p:cNvCxnSpPr>
          <p:nvPr/>
        </p:nvCxnSpPr>
        <p:spPr>
          <a:xfrm flipV="1">
            <a:off x="4102492" y="4518438"/>
            <a:ext cx="422592" cy="461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>
            <a:stCxn id="84" idx="0"/>
            <a:endCxn id="92" idx="2"/>
          </p:cNvCxnSpPr>
          <p:nvPr/>
        </p:nvCxnSpPr>
        <p:spPr>
          <a:xfrm flipV="1">
            <a:off x="5224750" y="3950381"/>
            <a:ext cx="2578" cy="29801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717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18525" y="19100"/>
            <a:ext cx="9125400" cy="50799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108075" y="694719"/>
            <a:ext cx="8946300" cy="4372200"/>
          </a:xfrm>
          <a:prstGeom prst="roundRect">
            <a:avLst>
              <a:gd name="adj" fmla="val 3690"/>
            </a:avLst>
          </a:prstGeom>
          <a:solidFill>
            <a:schemeClr val="lt1"/>
          </a:solidFill>
          <a:ln>
            <a:noFill/>
          </a:ln>
          <a:effectLst>
            <a:outerShdw dist="76200" dir="21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</a:t>
            </a:r>
          </a:p>
          <a:p>
            <a:pPr algn="ctr">
              <a:buClr>
                <a:srgbClr val="FFFFFF"/>
              </a:buClr>
              <a:buSzPts val="1400"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  </a:t>
            </a:r>
            <a:endParaRPr sz="1400" b="0" i="0" u="none" strike="noStrike" cap="none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97125" y="138364"/>
            <a:ext cx="53199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BD4"/>
              </a:buClr>
              <a:buSzPts val="2850"/>
              <a:buFont typeface="Arial"/>
              <a:buNone/>
            </a:pPr>
            <a:r>
              <a:rPr lang="en-US" sz="2850" b="1" dirty="0" smtClean="0">
                <a:solidFill>
                  <a:schemeClr val="bg1"/>
                </a:solidFill>
              </a:rPr>
              <a:t>AI </a:t>
            </a:r>
            <a:r>
              <a:rPr lang="ko-KR" altLang="en-US" sz="2850" b="1" dirty="0" smtClean="0">
                <a:solidFill>
                  <a:schemeClr val="bg1"/>
                </a:solidFill>
              </a:rPr>
              <a:t>실시간 관제 이벤트</a:t>
            </a:r>
            <a:endParaRPr sz="285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-6123" y="-6255"/>
            <a:ext cx="78600" cy="592800"/>
          </a:xfrm>
          <a:prstGeom prst="rect">
            <a:avLst/>
          </a:prstGeom>
          <a:solidFill>
            <a:srgbClr val="FDFB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0"/>
          <p:cNvGraphicFramePr/>
          <p:nvPr>
            <p:extLst/>
          </p:nvPr>
        </p:nvGraphicFramePr>
        <p:xfrm>
          <a:off x="478500" y="748512"/>
          <a:ext cx="8205450" cy="553760"/>
        </p:xfrm>
        <a:graphic>
          <a:graphicData uri="http://schemas.openxmlformats.org/drawingml/2006/table">
            <a:tbl>
              <a:tblPr>
                <a:noFill/>
                <a:tableStyleId>{8BFA3B82-0B14-4D30-A9CE-952FDBE51B78}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단위 프로세스 ID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SAS-CAC-01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프로세스명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cs typeface="Calibri"/>
                          <a:sym typeface="Calibri"/>
                        </a:rPr>
                        <a:t>AI</a:t>
                      </a:r>
                      <a:r>
                        <a:rPr lang="en-US" sz="1200" b="1" u="none" strike="noStrike" cap="none" baseline="0" dirty="0" smtClean="0">
                          <a:solidFill>
                            <a:schemeClr val="lt1"/>
                          </a:solidFill>
                          <a:latin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ko-KR" altLang="en-US" sz="1200" b="1" u="none" strike="noStrike" cap="none" baseline="0" dirty="0" smtClean="0">
                          <a:solidFill>
                            <a:schemeClr val="lt1"/>
                          </a:solidFill>
                          <a:latin typeface="Calibri"/>
                          <a:cs typeface="Calibri"/>
                          <a:sym typeface="Calibri"/>
                        </a:rPr>
                        <a:t>실시간 관제 이벤트</a:t>
                      </a:r>
                      <a:endParaRPr dirty="0"/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작성일자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altLang="ko-KR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2026.08.24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서기원</a:t>
                      </a:r>
                      <a:endParaRPr sz="1200" b="1" i="0" u="none" strike="noStrike" kern="1200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" name="직선 화살표 연결선 2"/>
          <p:cNvCxnSpPr>
            <a:stCxn id="4" idx="2"/>
            <a:endCxn id="37" idx="0"/>
          </p:cNvCxnSpPr>
          <p:nvPr/>
        </p:nvCxnSpPr>
        <p:spPr>
          <a:xfrm flipH="1">
            <a:off x="1256032" y="1980230"/>
            <a:ext cx="2451" cy="52131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모서리가 둥근 직사각형 3"/>
          <p:cNvSpPr/>
          <p:nvPr/>
        </p:nvSpPr>
        <p:spPr>
          <a:xfrm>
            <a:off x="733174" y="1627799"/>
            <a:ext cx="1050618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실시간 </a:t>
            </a:r>
            <a:endParaRPr lang="en-US" altLang="ko-KR" sz="9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관제 진행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9" name="평행 사변형 8"/>
          <p:cNvSpPr/>
          <p:nvPr/>
        </p:nvSpPr>
        <p:spPr>
          <a:xfrm>
            <a:off x="592455" y="3294373"/>
            <a:ext cx="1267247" cy="338814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AI </a:t>
            </a:r>
            <a:r>
              <a:rPr lang="ko-KR" altLang="en-US" sz="900" dirty="0" smtClean="0">
                <a:solidFill>
                  <a:schemeClr val="tx1"/>
                </a:solidFill>
              </a:rPr>
              <a:t>탐지 이벤트 수신 </a:t>
            </a:r>
            <a:r>
              <a:rPr lang="en-US" altLang="ko-KR" sz="900" dirty="0" smtClean="0">
                <a:solidFill>
                  <a:schemeClr val="tx1"/>
                </a:solidFill>
              </a:rPr>
              <a:t>API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43802" y="4096995"/>
            <a:ext cx="1172004" cy="46258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Spring </a:t>
            </a:r>
            <a:r>
              <a:rPr lang="ko-KR" altLang="en-US" sz="900" dirty="0" smtClean="0">
                <a:solidFill>
                  <a:schemeClr val="tx1"/>
                </a:solidFill>
              </a:rPr>
              <a:t>서버 가동</a:t>
            </a:r>
            <a:endParaRPr lang="en-US" altLang="ko-KR" sz="9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@RestController</a:t>
            </a:r>
            <a:r>
              <a:rPr lang="ko-KR" altLang="en-US" sz="900" dirty="0" smtClean="0">
                <a:solidFill>
                  <a:schemeClr val="tx1"/>
                </a:solidFill>
              </a:rPr>
              <a:t>엔드포인트 수신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754649" y="2267246"/>
            <a:ext cx="2740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Y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37" name="평행 사변형 36"/>
          <p:cNvSpPr/>
          <p:nvPr/>
        </p:nvSpPr>
        <p:spPr>
          <a:xfrm>
            <a:off x="601296" y="2501548"/>
            <a:ext cx="1309471" cy="338814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 smtClean="0">
                <a:solidFill>
                  <a:schemeClr val="tx1"/>
                </a:solidFill>
              </a:rPr>
              <a:t>드론텔레메트리</a:t>
            </a:r>
            <a:r>
              <a:rPr lang="ko-KR" altLang="en-US" sz="900" dirty="0" smtClean="0">
                <a:solidFill>
                  <a:schemeClr val="tx1"/>
                </a:solidFill>
              </a:rPr>
              <a:t> 데이터 수신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2622479" y="3284401"/>
            <a:ext cx="1243224" cy="46258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에러 제어 파라미터 누락 예외 처리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1" name="다이아몬드 50"/>
          <p:cNvSpPr/>
          <p:nvPr/>
        </p:nvSpPr>
        <p:spPr>
          <a:xfrm>
            <a:off x="4244580" y="2255582"/>
            <a:ext cx="1352505" cy="488572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데이터 유효성 평가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55609" y="3282275"/>
            <a:ext cx="1339176" cy="46258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예외 메시지 반환 처리</a:t>
            </a:r>
            <a:endParaRPr lang="en-US" altLang="ko-KR" sz="9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포맷팅 에러 분석 로깅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3449849" y="4251500"/>
            <a:ext cx="1230243" cy="33881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프로세스 강제 종료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7195141" y="1438483"/>
            <a:ext cx="1339176" cy="46258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Oracle DB </a:t>
            </a:r>
            <a:r>
              <a:rPr lang="ko-KR" altLang="en-US" sz="900" dirty="0" smtClean="0">
                <a:solidFill>
                  <a:schemeClr val="tx1"/>
                </a:solidFill>
              </a:rPr>
              <a:t>연동</a:t>
            </a:r>
            <a:endParaRPr lang="en-US" altLang="ko-KR" sz="9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DETECTION_LOG </a:t>
            </a:r>
            <a:r>
              <a:rPr lang="ko-KR" altLang="en-US" sz="900" dirty="0" smtClean="0">
                <a:solidFill>
                  <a:schemeClr val="tx1"/>
                </a:solidFill>
              </a:rPr>
              <a:t>트랜잭션 보장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7361658" y="2234569"/>
            <a:ext cx="1006143" cy="46258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드론 탐지 </a:t>
            </a:r>
            <a:endParaRPr lang="en-US" altLang="ko-KR" sz="9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로그 이력 적재</a:t>
            </a:r>
            <a:endParaRPr lang="en-US" altLang="ko-KR" sz="900" dirty="0" smtClean="0">
              <a:solidFill>
                <a:schemeClr val="tx1"/>
              </a:solidFill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5750065" y="4250668"/>
            <a:ext cx="1230243" cy="33881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로그 적재 및 웹소켓 알림 발생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84" name="직선 화살표 연결선 83"/>
          <p:cNvCxnSpPr>
            <a:stCxn id="86" idx="3"/>
            <a:endCxn id="51" idx="1"/>
          </p:cNvCxnSpPr>
          <p:nvPr/>
        </p:nvCxnSpPr>
        <p:spPr>
          <a:xfrm flipV="1">
            <a:off x="3917814" y="2499868"/>
            <a:ext cx="326766" cy="300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다이아몬드 85"/>
          <p:cNvSpPr/>
          <p:nvPr/>
        </p:nvSpPr>
        <p:spPr>
          <a:xfrm>
            <a:off x="2565309" y="2258583"/>
            <a:ext cx="1352505" cy="488572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데이터 유무 평가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8" name="직선 화살표 연결선 107"/>
          <p:cNvCxnSpPr>
            <a:stCxn id="86" idx="2"/>
            <a:endCxn id="49" idx="0"/>
          </p:cNvCxnSpPr>
          <p:nvPr/>
        </p:nvCxnSpPr>
        <p:spPr>
          <a:xfrm>
            <a:off x="3241562" y="2747155"/>
            <a:ext cx="2529" cy="53724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126"/>
          <p:cNvCxnSpPr>
            <a:stCxn id="51" idx="2"/>
            <a:endCxn id="52" idx="0"/>
          </p:cNvCxnSpPr>
          <p:nvPr/>
        </p:nvCxnSpPr>
        <p:spPr>
          <a:xfrm>
            <a:off x="4920833" y="2744154"/>
            <a:ext cx="4364" cy="53812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화살표 연결선 131"/>
          <p:cNvCxnSpPr>
            <a:stCxn id="37" idx="4"/>
            <a:endCxn id="9" idx="1"/>
          </p:cNvCxnSpPr>
          <p:nvPr/>
        </p:nvCxnSpPr>
        <p:spPr>
          <a:xfrm>
            <a:off x="1256032" y="2840362"/>
            <a:ext cx="12398" cy="45401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화살표 연결선 132"/>
          <p:cNvCxnSpPr>
            <a:stCxn id="9" idx="4"/>
            <a:endCxn id="15" idx="0"/>
          </p:cNvCxnSpPr>
          <p:nvPr/>
        </p:nvCxnSpPr>
        <p:spPr>
          <a:xfrm>
            <a:off x="1226079" y="3633187"/>
            <a:ext cx="3725" cy="46380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3208525" y="2720846"/>
            <a:ext cx="2819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N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4888470" y="2026465"/>
            <a:ext cx="2740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Y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4887796" y="2720846"/>
            <a:ext cx="2819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N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cxnSp>
        <p:nvCxnSpPr>
          <p:cNvPr id="38" name="꺾인 연결선 37"/>
          <p:cNvCxnSpPr>
            <a:stCxn id="15" idx="3"/>
            <a:endCxn id="86" idx="1"/>
          </p:cNvCxnSpPr>
          <p:nvPr/>
        </p:nvCxnSpPr>
        <p:spPr>
          <a:xfrm flipV="1">
            <a:off x="1815806" y="2502869"/>
            <a:ext cx="749503" cy="1825420"/>
          </a:xfrm>
          <a:prstGeom prst="bentConnector3">
            <a:avLst>
              <a:gd name="adj1" fmla="val 5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57"/>
          <p:cNvCxnSpPr>
            <a:stCxn id="49" idx="2"/>
            <a:endCxn id="54" idx="0"/>
          </p:cNvCxnSpPr>
          <p:nvPr/>
        </p:nvCxnSpPr>
        <p:spPr>
          <a:xfrm rot="16200000" flipH="1">
            <a:off x="3402275" y="3588804"/>
            <a:ext cx="504512" cy="820880"/>
          </a:xfrm>
          <a:prstGeom prst="bentConnector3">
            <a:avLst>
              <a:gd name="adj1" fmla="val 5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60"/>
          <p:cNvCxnSpPr>
            <a:stCxn id="52" idx="2"/>
            <a:endCxn id="54" idx="0"/>
          </p:cNvCxnSpPr>
          <p:nvPr/>
        </p:nvCxnSpPr>
        <p:spPr>
          <a:xfrm rot="5400000">
            <a:off x="4241765" y="3568068"/>
            <a:ext cx="506638" cy="860226"/>
          </a:xfrm>
          <a:prstGeom prst="bentConnector3">
            <a:avLst>
              <a:gd name="adj1" fmla="val 5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다이아몬드 34"/>
          <p:cNvSpPr/>
          <p:nvPr/>
        </p:nvSpPr>
        <p:spPr>
          <a:xfrm>
            <a:off x="7120851" y="3766705"/>
            <a:ext cx="1487756" cy="488572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관제사 조치 여부 확인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9" name="꺾인 연결선 38"/>
          <p:cNvCxnSpPr>
            <a:stCxn id="51" idx="0"/>
            <a:endCxn id="57" idx="1"/>
          </p:cNvCxnSpPr>
          <p:nvPr/>
        </p:nvCxnSpPr>
        <p:spPr>
          <a:xfrm rot="5400000" flipH="1" flipV="1">
            <a:off x="5765085" y="825526"/>
            <a:ext cx="585805" cy="2274308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stCxn id="57" idx="2"/>
            <a:endCxn id="59" idx="0"/>
          </p:cNvCxnSpPr>
          <p:nvPr/>
        </p:nvCxnSpPr>
        <p:spPr>
          <a:xfrm>
            <a:off x="7864729" y="1901070"/>
            <a:ext cx="1" cy="33349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5811809" y="2232950"/>
            <a:ext cx="1106757" cy="46258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강력 경보 </a:t>
            </a:r>
            <a:r>
              <a:rPr lang="ko-KR" altLang="en-US" sz="900" dirty="0" err="1" smtClean="0">
                <a:solidFill>
                  <a:schemeClr val="tx1"/>
                </a:solidFill>
              </a:rPr>
              <a:t>브로드캐스팅</a:t>
            </a:r>
            <a:r>
              <a:rPr lang="ko-KR" altLang="en-US" sz="900" dirty="0" smtClean="0">
                <a:solidFill>
                  <a:schemeClr val="tx1"/>
                </a:solidFill>
              </a:rPr>
              <a:t> 및 다채널 전파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3" name="다이아몬드 52"/>
          <p:cNvSpPr/>
          <p:nvPr/>
        </p:nvSpPr>
        <p:spPr>
          <a:xfrm>
            <a:off x="7120851" y="3028355"/>
            <a:ext cx="1487756" cy="488572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5</a:t>
            </a:r>
            <a:r>
              <a:rPr lang="ko-KR" altLang="en-US" sz="800" dirty="0" smtClean="0">
                <a:solidFill>
                  <a:schemeClr val="tx1"/>
                </a:solidFill>
              </a:rPr>
              <a:t>분 경과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5" name="꺾인 연결선 54"/>
          <p:cNvCxnSpPr>
            <a:stCxn id="35" idx="2"/>
            <a:endCxn id="60" idx="3"/>
          </p:cNvCxnSpPr>
          <p:nvPr/>
        </p:nvCxnSpPr>
        <p:spPr>
          <a:xfrm rot="5400000">
            <a:off x="7340120" y="3895466"/>
            <a:ext cx="164798" cy="884421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stCxn id="59" idx="2"/>
            <a:endCxn id="53" idx="0"/>
          </p:cNvCxnSpPr>
          <p:nvPr/>
        </p:nvCxnSpPr>
        <p:spPr>
          <a:xfrm flipH="1">
            <a:off x="7864729" y="2697156"/>
            <a:ext cx="1" cy="33119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>
            <a:stCxn id="53" idx="2"/>
            <a:endCxn id="35" idx="0"/>
          </p:cNvCxnSpPr>
          <p:nvPr/>
        </p:nvCxnSpPr>
        <p:spPr>
          <a:xfrm>
            <a:off x="7864729" y="3516927"/>
            <a:ext cx="0" cy="24977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53" idx="1"/>
            <a:endCxn id="50" idx="2"/>
          </p:cNvCxnSpPr>
          <p:nvPr/>
        </p:nvCxnSpPr>
        <p:spPr>
          <a:xfrm rot="10800000">
            <a:off x="6365189" y="2695537"/>
            <a:ext cx="755663" cy="577104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>
            <a:stCxn id="50" idx="3"/>
            <a:endCxn id="59" idx="1"/>
          </p:cNvCxnSpPr>
          <p:nvPr/>
        </p:nvCxnSpPr>
        <p:spPr>
          <a:xfrm>
            <a:off x="6918566" y="2464244"/>
            <a:ext cx="443092" cy="161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35" idx="3"/>
            <a:endCxn id="59" idx="3"/>
          </p:cNvCxnSpPr>
          <p:nvPr/>
        </p:nvCxnSpPr>
        <p:spPr>
          <a:xfrm flipH="1" flipV="1">
            <a:off x="8367801" y="2465863"/>
            <a:ext cx="240806" cy="1545128"/>
          </a:xfrm>
          <a:prstGeom prst="bentConnector3">
            <a:avLst>
              <a:gd name="adj1" fmla="val -94931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504648" y="4192546"/>
            <a:ext cx="2740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Y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512423" y="3776884"/>
            <a:ext cx="2819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N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980308" y="3035747"/>
            <a:ext cx="2740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Y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874653" y="3483252"/>
            <a:ext cx="2819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N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2083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18525" y="19100"/>
            <a:ext cx="9125400" cy="50799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108075" y="669676"/>
            <a:ext cx="8946300" cy="4372200"/>
          </a:xfrm>
          <a:prstGeom prst="roundRect">
            <a:avLst>
              <a:gd name="adj" fmla="val 3690"/>
            </a:avLst>
          </a:prstGeom>
          <a:solidFill>
            <a:schemeClr val="lt1"/>
          </a:solidFill>
          <a:ln>
            <a:noFill/>
          </a:ln>
          <a:effectLst>
            <a:outerShdw dist="76200" dir="21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</a:t>
            </a:r>
          </a:p>
          <a:p>
            <a:pPr algn="ctr">
              <a:buClr>
                <a:srgbClr val="FFFFFF"/>
              </a:buClr>
              <a:buSzPts val="1400"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  </a:t>
            </a:r>
            <a:endParaRPr sz="1400" b="0" i="0" u="none" strike="noStrike" cap="none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97125" y="138364"/>
            <a:ext cx="5319900" cy="96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FDFBD4"/>
              </a:buClr>
              <a:buSzPts val="2850"/>
            </a:pPr>
            <a:r>
              <a:rPr lang="ko-KR" altLang="en-US" sz="2850" b="1" dirty="0">
                <a:solidFill>
                  <a:schemeClr val="bg1"/>
                </a:solidFill>
              </a:rPr>
              <a:t>관제 </a:t>
            </a:r>
            <a:r>
              <a:rPr lang="ko-KR" altLang="en-US" sz="2850" b="1" dirty="0" smtClean="0">
                <a:solidFill>
                  <a:schemeClr val="bg1"/>
                </a:solidFill>
              </a:rPr>
              <a:t>이력조회 </a:t>
            </a:r>
            <a:endParaRPr lang="ko-KR" altLang="en-US" sz="2850" b="1" dirty="0">
              <a:solidFill>
                <a:schemeClr val="bg1"/>
              </a:solidFill>
            </a:endParaRPr>
          </a:p>
          <a:p>
            <a:pPr lvl="0">
              <a:buClr>
                <a:srgbClr val="FDFBD4"/>
              </a:buClr>
              <a:buSzPts val="2850"/>
            </a:pPr>
            <a:r>
              <a:rPr lang="ko-KR" altLang="en-US" sz="2850" b="1" dirty="0">
                <a:solidFill>
                  <a:schemeClr val="bg1"/>
                </a:solidFill>
              </a:rPr>
              <a:t>이력 조회</a:t>
            </a:r>
            <a:endParaRPr sz="285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-6123" y="-6255"/>
            <a:ext cx="78600" cy="592800"/>
          </a:xfrm>
          <a:prstGeom prst="rect">
            <a:avLst/>
          </a:prstGeom>
          <a:solidFill>
            <a:srgbClr val="FDFB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0"/>
          <p:cNvGraphicFramePr/>
          <p:nvPr>
            <p:extLst>
              <p:ext uri="{D42A27DB-BD31-4B8C-83A1-F6EECF244321}">
                <p14:modId xmlns:p14="http://schemas.microsoft.com/office/powerpoint/2010/main" val="3241903017"/>
              </p:ext>
            </p:extLst>
          </p:nvPr>
        </p:nvGraphicFramePr>
        <p:xfrm>
          <a:off x="478500" y="748512"/>
          <a:ext cx="8205450" cy="782360"/>
        </p:xfrm>
        <a:graphic>
          <a:graphicData uri="http://schemas.openxmlformats.org/drawingml/2006/table">
            <a:tbl>
              <a:tblPr>
                <a:noFill/>
                <a:tableStyleId>{8BFA3B82-0B14-4D30-A9CE-952FDBE51B78}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단위 프로세스 ID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SAS-MHC-01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 err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프로세스명</a:t>
                      </a:r>
                      <a:endParaRPr sz="1200" b="1" u="none" strike="noStrike" cap="none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탐지 이벤트 </a:t>
                      </a:r>
                      <a:endParaRPr lang="en-US" altLang="ko-KR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dirty="0" err="1" smtClean="0">
                          <a:solidFill>
                            <a:schemeClr val="bg1"/>
                          </a:solidFill>
                        </a:rPr>
                        <a:t>핀포인트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 매핑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작성일자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altLang="ko-KR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2026.08.24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i="0" u="none" strike="noStrike" kern="1200" cap="none" dirty="0" err="1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장지웅</a:t>
                      </a:r>
                      <a:endParaRPr sz="1200" b="1" i="0" u="none" strike="noStrike" kern="1200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" name="직선 화살표 연결선 2"/>
          <p:cNvCxnSpPr>
            <a:stCxn id="4" idx="3"/>
            <a:endCxn id="5" idx="1"/>
          </p:cNvCxnSpPr>
          <p:nvPr/>
        </p:nvCxnSpPr>
        <p:spPr>
          <a:xfrm flipV="1">
            <a:off x="1889979" y="3170813"/>
            <a:ext cx="540148" cy="680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모서리가 둥근 직사각형 3"/>
          <p:cNvSpPr/>
          <p:nvPr/>
        </p:nvSpPr>
        <p:spPr>
          <a:xfrm>
            <a:off x="819462" y="3001406"/>
            <a:ext cx="1070517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경보 </a:t>
            </a:r>
            <a:endParaRPr lang="en-US" altLang="ko-KR" sz="9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이벤트 발생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430127" y="2987539"/>
            <a:ext cx="1070517" cy="36654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 smtClean="0">
                <a:solidFill>
                  <a:schemeClr val="tx1"/>
                </a:solidFill>
              </a:rPr>
              <a:t>웹소켓</a:t>
            </a:r>
            <a:r>
              <a:rPr lang="ko-KR" altLang="en-US" sz="900" dirty="0" smtClean="0">
                <a:solidFill>
                  <a:schemeClr val="tx1"/>
                </a:solidFill>
              </a:rPr>
              <a:t> </a:t>
            </a:r>
            <a:r>
              <a:rPr lang="ko-KR" altLang="en-US" sz="900" dirty="0" err="1" smtClean="0">
                <a:solidFill>
                  <a:schemeClr val="tx1"/>
                </a:solidFill>
              </a:rPr>
              <a:t>경보표시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040792" y="3004877"/>
            <a:ext cx="1070517" cy="33881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 smtClean="0">
                <a:solidFill>
                  <a:schemeClr val="tx1"/>
                </a:solidFill>
              </a:rPr>
              <a:t>PinPoint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651457" y="3004877"/>
            <a:ext cx="1070517" cy="33881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Circle </a:t>
            </a:r>
            <a:r>
              <a:rPr lang="ko-KR" altLang="en-US" sz="900" dirty="0" smtClean="0">
                <a:solidFill>
                  <a:schemeClr val="tx1"/>
                </a:solidFill>
              </a:rPr>
              <a:t>오버레이 생성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38" name="직선 화살표 연결선 37"/>
          <p:cNvCxnSpPr>
            <a:stCxn id="5" idx="3"/>
            <a:endCxn id="15" idx="1"/>
          </p:cNvCxnSpPr>
          <p:nvPr/>
        </p:nvCxnSpPr>
        <p:spPr>
          <a:xfrm>
            <a:off x="3500644" y="3170813"/>
            <a:ext cx="540148" cy="347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모서리가 둥근 직사각형 43"/>
          <p:cNvSpPr/>
          <p:nvPr/>
        </p:nvSpPr>
        <p:spPr>
          <a:xfrm>
            <a:off x="7262122" y="2986736"/>
            <a:ext cx="1070517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경보 표시 완료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74" name="직선 화살표 연결선 73"/>
          <p:cNvCxnSpPr>
            <a:stCxn id="15" idx="3"/>
            <a:endCxn id="37" idx="1"/>
          </p:cNvCxnSpPr>
          <p:nvPr/>
        </p:nvCxnSpPr>
        <p:spPr>
          <a:xfrm>
            <a:off x="5111309" y="3174284"/>
            <a:ext cx="54014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37" idx="3"/>
            <a:endCxn id="44" idx="1"/>
          </p:cNvCxnSpPr>
          <p:nvPr/>
        </p:nvCxnSpPr>
        <p:spPr>
          <a:xfrm flipV="1">
            <a:off x="6721974" y="3162952"/>
            <a:ext cx="540148" cy="1133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786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18525" y="19100"/>
            <a:ext cx="9125400" cy="50799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97125" y="669676"/>
            <a:ext cx="8946300" cy="4372200"/>
          </a:xfrm>
          <a:prstGeom prst="roundRect">
            <a:avLst>
              <a:gd name="adj" fmla="val 3690"/>
            </a:avLst>
          </a:prstGeom>
          <a:solidFill>
            <a:schemeClr val="lt1"/>
          </a:solidFill>
          <a:ln>
            <a:noFill/>
          </a:ln>
          <a:effectLst>
            <a:outerShdw dist="76200" dir="21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</a:t>
            </a:r>
          </a:p>
          <a:p>
            <a:pPr algn="ctr">
              <a:buClr>
                <a:srgbClr val="FFFFFF"/>
              </a:buClr>
              <a:buSzPts val="1400"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  </a:t>
            </a:r>
            <a:endParaRPr sz="1400" b="0" i="0" u="none" strike="noStrike" cap="none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97125" y="138364"/>
            <a:ext cx="5319900" cy="53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FDFBD4"/>
              </a:buClr>
              <a:buSzPts val="2850"/>
            </a:pPr>
            <a:r>
              <a:rPr lang="ko-KR" altLang="en-US" sz="2850" b="1" dirty="0">
                <a:solidFill>
                  <a:schemeClr val="bg1"/>
                </a:solidFill>
              </a:rPr>
              <a:t>관제 </a:t>
            </a:r>
            <a:r>
              <a:rPr lang="ko-KR" altLang="en-US" sz="2850" b="1" dirty="0" smtClean="0">
                <a:solidFill>
                  <a:schemeClr val="bg1"/>
                </a:solidFill>
              </a:rPr>
              <a:t>이력조회 </a:t>
            </a:r>
            <a:endParaRPr lang="ko-KR" altLang="en-US" sz="2850" b="1" dirty="0">
              <a:solidFill>
                <a:schemeClr val="bg1"/>
              </a:solidFill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-6123" y="-6255"/>
            <a:ext cx="78600" cy="592800"/>
          </a:xfrm>
          <a:prstGeom prst="rect">
            <a:avLst/>
          </a:prstGeom>
          <a:solidFill>
            <a:srgbClr val="FDFB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0"/>
          <p:cNvGraphicFramePr/>
          <p:nvPr>
            <p:extLst>
              <p:ext uri="{D42A27DB-BD31-4B8C-83A1-F6EECF244321}">
                <p14:modId xmlns:p14="http://schemas.microsoft.com/office/powerpoint/2010/main" val="202967384"/>
              </p:ext>
            </p:extLst>
          </p:nvPr>
        </p:nvGraphicFramePr>
        <p:xfrm>
          <a:off x="478500" y="748512"/>
          <a:ext cx="8205450" cy="782360"/>
        </p:xfrm>
        <a:graphic>
          <a:graphicData uri="http://schemas.openxmlformats.org/drawingml/2006/table">
            <a:tbl>
              <a:tblPr>
                <a:noFill/>
                <a:tableStyleId>{8BFA3B82-0B14-4D30-A9CE-952FDBE51B78}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단위 프로세스 ID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altLang="ko-KR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SAS-MHC-02</a:t>
                      </a:r>
                      <a:endParaRPr lang="en-US" altLang="ko-KR"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 err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프로세스명</a:t>
                      </a:r>
                      <a:endParaRPr sz="1200" b="1" u="none" strike="noStrike" cap="none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dirty="0" err="1" smtClean="0">
                          <a:solidFill>
                            <a:schemeClr val="bg1"/>
                          </a:solidFill>
                        </a:rPr>
                        <a:t>드론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 탐지 로그 </a:t>
                      </a:r>
                      <a:endParaRPr lang="en-US" altLang="ko-KR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dirty="0" err="1" smtClean="0">
                          <a:solidFill>
                            <a:schemeClr val="bg1"/>
                          </a:solidFill>
                        </a:rPr>
                        <a:t>다조건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 검색 및 </a:t>
                      </a:r>
                      <a:r>
                        <a:rPr lang="ko-KR" altLang="en-US" dirty="0" err="1" smtClean="0">
                          <a:solidFill>
                            <a:schemeClr val="bg1"/>
                          </a:solidFill>
                        </a:rPr>
                        <a:t>페이징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작성일자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altLang="ko-KR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2026.08.24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i="0" u="none" strike="noStrike" kern="1200" cap="none" dirty="0" err="1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장지웅</a:t>
                      </a:r>
                      <a:endParaRPr sz="1200" b="1" i="0" u="none" strike="noStrike" kern="1200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모서리가 둥근 직사각형 3"/>
          <p:cNvSpPr/>
          <p:nvPr/>
        </p:nvSpPr>
        <p:spPr>
          <a:xfrm>
            <a:off x="7100125" y="3753657"/>
            <a:ext cx="1070517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검색완료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8" name="직선 화살표 연결선 37"/>
          <p:cNvCxnSpPr>
            <a:stCxn id="17" idx="2"/>
            <a:endCxn id="29" idx="1"/>
          </p:cNvCxnSpPr>
          <p:nvPr/>
        </p:nvCxnSpPr>
        <p:spPr>
          <a:xfrm flipV="1">
            <a:off x="4119516" y="3174046"/>
            <a:ext cx="959216" cy="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29" idx="3"/>
            <a:endCxn id="26" idx="1"/>
          </p:cNvCxnSpPr>
          <p:nvPr/>
        </p:nvCxnSpPr>
        <p:spPr>
          <a:xfrm flipV="1">
            <a:off x="6149249" y="3168523"/>
            <a:ext cx="950877" cy="552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평행 사변형 16"/>
          <p:cNvSpPr/>
          <p:nvPr/>
        </p:nvSpPr>
        <p:spPr>
          <a:xfrm>
            <a:off x="2881715" y="3013367"/>
            <a:ext cx="1277971" cy="321359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검색 </a:t>
            </a:r>
            <a:endParaRPr lang="en-US" altLang="ko-KR" sz="9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조건 입력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100126" y="2999116"/>
            <a:ext cx="1070517" cy="33881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검색 결과 및 리스트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30" name="직선 화살표 연결선 29"/>
          <p:cNvCxnSpPr>
            <a:stCxn id="26" idx="2"/>
            <a:endCxn id="4" idx="0"/>
          </p:cNvCxnSpPr>
          <p:nvPr/>
        </p:nvCxnSpPr>
        <p:spPr>
          <a:xfrm flipH="1">
            <a:off x="7635384" y="3337930"/>
            <a:ext cx="1" cy="41572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5078732" y="3004639"/>
            <a:ext cx="1070517" cy="33881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 smtClean="0">
                <a:solidFill>
                  <a:schemeClr val="tx1"/>
                </a:solidFill>
              </a:rPr>
              <a:t>MyBatis</a:t>
            </a:r>
            <a:r>
              <a:rPr lang="en-US" altLang="ko-KR" sz="900" dirty="0" smtClean="0">
                <a:solidFill>
                  <a:schemeClr val="tx1"/>
                </a:solidFill>
              </a:rPr>
              <a:t> Dynamic Query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975668" y="3006736"/>
            <a:ext cx="1070517" cy="33881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로그 리스트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/>
          <p:cNvCxnSpPr>
            <a:stCxn id="21" idx="3"/>
            <a:endCxn id="17" idx="5"/>
          </p:cNvCxnSpPr>
          <p:nvPr/>
        </p:nvCxnSpPr>
        <p:spPr>
          <a:xfrm flipV="1">
            <a:off x="2046185" y="3174047"/>
            <a:ext cx="875700" cy="209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모서리가 둥근 직사각형 32"/>
          <p:cNvSpPr/>
          <p:nvPr/>
        </p:nvSpPr>
        <p:spPr>
          <a:xfrm>
            <a:off x="975668" y="2301973"/>
            <a:ext cx="1070517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탐지 로그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리스트 진입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4" name="직선 화살표 연결선 33"/>
          <p:cNvCxnSpPr>
            <a:stCxn id="33" idx="2"/>
            <a:endCxn id="21" idx="0"/>
          </p:cNvCxnSpPr>
          <p:nvPr/>
        </p:nvCxnSpPr>
        <p:spPr>
          <a:xfrm>
            <a:off x="1510927" y="2654404"/>
            <a:ext cx="0" cy="35233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63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18525" y="19100"/>
            <a:ext cx="9125400" cy="50799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97125" y="669676"/>
            <a:ext cx="8946300" cy="4372200"/>
          </a:xfrm>
          <a:prstGeom prst="roundRect">
            <a:avLst>
              <a:gd name="adj" fmla="val 3690"/>
            </a:avLst>
          </a:prstGeom>
          <a:solidFill>
            <a:schemeClr val="lt1"/>
          </a:solidFill>
          <a:ln>
            <a:noFill/>
          </a:ln>
          <a:effectLst>
            <a:outerShdw dist="76200" dir="21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</a:t>
            </a:r>
          </a:p>
          <a:p>
            <a:pPr algn="ctr">
              <a:buClr>
                <a:srgbClr val="FFFFFF"/>
              </a:buClr>
              <a:buSzPts val="1400"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  </a:t>
            </a:r>
            <a:endParaRPr sz="1400" b="0" i="0" u="none" strike="noStrike" cap="none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97125" y="138364"/>
            <a:ext cx="5319900" cy="53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FDFBD4"/>
              </a:buClr>
              <a:buSzPts val="2850"/>
            </a:pPr>
            <a:r>
              <a:rPr lang="ko-KR" altLang="en-US" sz="2850" b="1" dirty="0">
                <a:solidFill>
                  <a:schemeClr val="bg1"/>
                </a:solidFill>
              </a:rPr>
              <a:t>관제 </a:t>
            </a:r>
            <a:r>
              <a:rPr lang="ko-KR" altLang="en-US" sz="2850" b="1" dirty="0" smtClean="0">
                <a:solidFill>
                  <a:schemeClr val="bg1"/>
                </a:solidFill>
              </a:rPr>
              <a:t>이력조회 </a:t>
            </a:r>
            <a:endParaRPr lang="ko-KR" altLang="en-US" sz="2850" b="1" dirty="0">
              <a:solidFill>
                <a:schemeClr val="bg1"/>
              </a:solidFill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-6123" y="-6255"/>
            <a:ext cx="78600" cy="592800"/>
          </a:xfrm>
          <a:prstGeom prst="rect">
            <a:avLst/>
          </a:prstGeom>
          <a:solidFill>
            <a:srgbClr val="FDFB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0"/>
          <p:cNvGraphicFramePr/>
          <p:nvPr>
            <p:extLst>
              <p:ext uri="{D42A27DB-BD31-4B8C-83A1-F6EECF244321}">
                <p14:modId xmlns:p14="http://schemas.microsoft.com/office/powerpoint/2010/main" val="396136132"/>
              </p:ext>
            </p:extLst>
          </p:nvPr>
        </p:nvGraphicFramePr>
        <p:xfrm>
          <a:off x="478500" y="748512"/>
          <a:ext cx="8205450" cy="576620"/>
        </p:xfrm>
        <a:graphic>
          <a:graphicData uri="http://schemas.openxmlformats.org/drawingml/2006/table">
            <a:tbl>
              <a:tblPr>
                <a:noFill/>
                <a:tableStyleId>{8BFA3B82-0B14-4D30-A9CE-952FDBE51B78}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단위 프로세스 ID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altLang="ko-KR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SAS-MHC-03</a:t>
                      </a:r>
                      <a:endParaRPr lang="en-US" altLang="ko-KR"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 err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프로세스명</a:t>
                      </a:r>
                      <a:endParaRPr sz="1200" b="1" u="none" strike="noStrike" cap="none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탐지 스냅샷 </a:t>
                      </a:r>
                      <a:r>
                        <a:rPr lang="ko-KR" altLang="en-US" dirty="0" err="1" smtClean="0">
                          <a:solidFill>
                            <a:schemeClr val="bg1"/>
                          </a:solidFill>
                        </a:rPr>
                        <a:t>모달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 연동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작성일자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altLang="ko-KR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2026.08.24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i="0" u="none" strike="noStrike" kern="1200" cap="none" dirty="0" err="1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장지웅</a:t>
                      </a:r>
                      <a:endParaRPr sz="1200" b="1" i="0" u="none" strike="noStrike" kern="1200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모서리가 둥근 직사각형 3"/>
          <p:cNvSpPr/>
          <p:nvPr/>
        </p:nvSpPr>
        <p:spPr>
          <a:xfrm>
            <a:off x="6958172" y="3894487"/>
            <a:ext cx="1070517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스냡샷</a:t>
            </a:r>
            <a:r>
              <a:rPr lang="ko-KR" altLang="en-US" sz="800" dirty="0" smtClean="0">
                <a:solidFill>
                  <a:schemeClr val="tx1"/>
                </a:solidFill>
              </a:rPr>
              <a:t> 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모달</a:t>
            </a:r>
            <a:r>
              <a:rPr lang="ko-KR" altLang="en-US" sz="800" dirty="0" smtClean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표출 완료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135129" y="2871351"/>
            <a:ext cx="1070517" cy="33881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AI </a:t>
            </a:r>
            <a:r>
              <a:rPr lang="ko-KR" altLang="en-US" sz="800" dirty="0" smtClean="0">
                <a:solidFill>
                  <a:schemeClr val="tx1"/>
                </a:solidFill>
              </a:rPr>
              <a:t>스냅샷 이미지 호출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8" name="직선 화살표 연결선 37"/>
          <p:cNvCxnSpPr>
            <a:stCxn id="17" idx="2"/>
            <a:endCxn id="37" idx="1"/>
          </p:cNvCxnSpPr>
          <p:nvPr/>
        </p:nvCxnSpPr>
        <p:spPr>
          <a:xfrm flipV="1">
            <a:off x="2324812" y="3040758"/>
            <a:ext cx="810317" cy="438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37" idx="3"/>
            <a:endCxn id="22" idx="1"/>
          </p:cNvCxnSpPr>
          <p:nvPr/>
        </p:nvCxnSpPr>
        <p:spPr>
          <a:xfrm flipV="1">
            <a:off x="4205646" y="3039804"/>
            <a:ext cx="793600" cy="95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평행 사변형 16"/>
          <p:cNvSpPr/>
          <p:nvPr/>
        </p:nvSpPr>
        <p:spPr>
          <a:xfrm>
            <a:off x="1218273" y="2875071"/>
            <a:ext cx="1149056" cy="340133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스냅샷 클릭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" name="다이아몬드 21"/>
          <p:cNvSpPr/>
          <p:nvPr/>
        </p:nvSpPr>
        <p:spPr>
          <a:xfrm>
            <a:off x="4999246" y="2771942"/>
            <a:ext cx="1070517" cy="535724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이미지 파일 유무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6881973" y="2870397"/>
            <a:ext cx="1070517" cy="33881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모달</a:t>
            </a:r>
            <a:r>
              <a:rPr lang="ko-KR" altLang="en-US" sz="800" dirty="0" smtClean="0">
                <a:solidFill>
                  <a:schemeClr val="tx1"/>
                </a:solidFill>
              </a:rPr>
              <a:t> 창 생성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/>
          <p:cNvCxnSpPr>
            <a:stCxn id="22" idx="3"/>
            <a:endCxn id="26" idx="1"/>
          </p:cNvCxnSpPr>
          <p:nvPr/>
        </p:nvCxnSpPr>
        <p:spPr>
          <a:xfrm>
            <a:off x="6069763" y="3039804"/>
            <a:ext cx="81221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stCxn id="26" idx="2"/>
            <a:endCxn id="4" idx="0"/>
          </p:cNvCxnSpPr>
          <p:nvPr/>
        </p:nvCxnSpPr>
        <p:spPr>
          <a:xfrm flipH="1">
            <a:off x="7493431" y="3216831"/>
            <a:ext cx="1" cy="67765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64360" y="2827001"/>
            <a:ext cx="368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Y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462745" y="3307692"/>
            <a:ext cx="368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>
                <a:solidFill>
                  <a:srgbClr val="FF0000"/>
                </a:solidFill>
              </a:rPr>
              <a:t>N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cxnSp>
        <p:nvCxnSpPr>
          <p:cNvPr id="25" name="직선 화살표 연결선 24"/>
          <p:cNvCxnSpPr>
            <a:stCxn id="22" idx="2"/>
            <a:endCxn id="28" idx="0"/>
          </p:cNvCxnSpPr>
          <p:nvPr/>
        </p:nvCxnSpPr>
        <p:spPr>
          <a:xfrm>
            <a:off x="5534505" y="3307666"/>
            <a:ext cx="2451" cy="58008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27"/>
          <p:cNvSpPr/>
          <p:nvPr/>
        </p:nvSpPr>
        <p:spPr>
          <a:xfrm>
            <a:off x="5001697" y="3887750"/>
            <a:ext cx="1070517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표출 종료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1263016" y="2092038"/>
            <a:ext cx="1070517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탐지 로그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리스트 진입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/>
          <p:cNvCxnSpPr>
            <a:stCxn id="20" idx="2"/>
            <a:endCxn id="17" idx="0"/>
          </p:cNvCxnSpPr>
          <p:nvPr/>
        </p:nvCxnSpPr>
        <p:spPr>
          <a:xfrm flipH="1">
            <a:off x="1792801" y="2444469"/>
            <a:ext cx="5474" cy="43060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782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18525" y="19100"/>
            <a:ext cx="9125475" cy="51244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72476" y="630661"/>
            <a:ext cx="8949603" cy="4411728"/>
          </a:xfrm>
          <a:prstGeom prst="roundRect">
            <a:avLst>
              <a:gd name="adj" fmla="val 3690"/>
            </a:avLst>
          </a:prstGeom>
          <a:solidFill>
            <a:schemeClr val="lt1"/>
          </a:solidFill>
          <a:ln>
            <a:noFill/>
          </a:ln>
          <a:effectLst>
            <a:outerShdw dist="76200" dir="21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-29615" y="80958"/>
            <a:ext cx="486775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chemeClr val="lt1"/>
              </a:buClr>
              <a:buSzPts val="1200"/>
            </a:pPr>
            <a:r>
              <a:rPr lang="ko-KR" altLang="en-US" sz="3200" b="1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다차원 통계 및 대시보드 </a:t>
            </a:r>
            <a:endParaRPr lang="ko-KR" altLang="en-US" sz="3200" dirty="0"/>
          </a:p>
        </p:txBody>
      </p:sp>
      <p:sp>
        <p:nvSpPr>
          <p:cNvPr id="151" name="Google Shape;151;p20"/>
          <p:cNvSpPr/>
          <p:nvPr/>
        </p:nvSpPr>
        <p:spPr>
          <a:xfrm>
            <a:off x="-6123" y="-6255"/>
            <a:ext cx="78600" cy="592800"/>
          </a:xfrm>
          <a:prstGeom prst="rect">
            <a:avLst/>
          </a:prstGeom>
          <a:solidFill>
            <a:srgbClr val="FDFB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0"/>
          <p:cNvGraphicFramePr/>
          <p:nvPr>
            <p:extLst>
              <p:ext uri="{D42A27DB-BD31-4B8C-83A1-F6EECF244321}">
                <p14:modId xmlns:p14="http://schemas.microsoft.com/office/powerpoint/2010/main" val="4087707999"/>
              </p:ext>
            </p:extLst>
          </p:nvPr>
        </p:nvGraphicFramePr>
        <p:xfrm>
          <a:off x="3915410" y="700685"/>
          <a:ext cx="4675904" cy="736640"/>
        </p:xfrm>
        <a:graphic>
          <a:graphicData uri="http://schemas.openxmlformats.org/drawingml/2006/table">
            <a:tbl>
              <a:tblPr>
                <a:noFill/>
                <a:tableStyleId>{8BFA3B82-0B14-4D30-A9CE-952FDBE51B78}</a:tableStyleId>
              </a:tblPr>
              <a:tblGrid>
                <a:gridCol w="1168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9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9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21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단위 프로세스 ID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SAS-DSC-01</a:t>
                      </a:r>
                      <a:endParaRPr lang="en-US" sz="1200" b="1" i="0" u="none" strike="noStrike" kern="1200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25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 err="1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프로세스명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cs typeface="Calibri"/>
                          <a:sym typeface="Calibri"/>
                        </a:rPr>
                        <a:t>다차원 통계 및 대시보드 </a:t>
                      </a:r>
                      <a:endParaRPr dirty="0"/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99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작성일자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altLang="ko-KR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2026.08.24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i="0" u="none" strike="noStrike" kern="1200" cap="none" dirty="0" err="1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배가영</a:t>
                      </a:r>
                      <a:endParaRPr sz="1200" b="1" i="0" u="none" strike="noStrike" kern="1200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모서리가 둥근 직사각형 3"/>
          <p:cNvSpPr/>
          <p:nvPr/>
        </p:nvSpPr>
        <p:spPr>
          <a:xfrm>
            <a:off x="472680" y="1842139"/>
            <a:ext cx="1070517" cy="34521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통계 대시보드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859432" y="1833532"/>
            <a:ext cx="1293758" cy="36654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다차원 통계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데이터 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7571772" y="4405887"/>
            <a:ext cx="1070517" cy="33881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출력 완료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/>
          <p:cNvCxnSpPr>
            <a:stCxn id="77" idx="2"/>
            <a:endCxn id="78" idx="0"/>
          </p:cNvCxnSpPr>
          <p:nvPr/>
        </p:nvCxnSpPr>
        <p:spPr>
          <a:xfrm flipH="1">
            <a:off x="2505362" y="3470706"/>
            <a:ext cx="949" cy="26412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>
            <a:stCxn id="76" idx="2"/>
            <a:endCxn id="77" idx="0"/>
          </p:cNvCxnSpPr>
          <p:nvPr/>
        </p:nvCxnSpPr>
        <p:spPr>
          <a:xfrm>
            <a:off x="2506311" y="2819912"/>
            <a:ext cx="0" cy="28424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>
            <a:stCxn id="5" idx="2"/>
            <a:endCxn id="76" idx="0"/>
          </p:cNvCxnSpPr>
          <p:nvPr/>
        </p:nvCxnSpPr>
        <p:spPr>
          <a:xfrm>
            <a:off x="2506311" y="2200079"/>
            <a:ext cx="0" cy="25328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stCxn id="78" idx="2"/>
            <a:endCxn id="86" idx="0"/>
          </p:cNvCxnSpPr>
          <p:nvPr/>
        </p:nvCxnSpPr>
        <p:spPr>
          <a:xfrm>
            <a:off x="2505362" y="4101375"/>
            <a:ext cx="949" cy="29064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/>
          <p:cNvSpPr/>
          <p:nvPr/>
        </p:nvSpPr>
        <p:spPr>
          <a:xfrm>
            <a:off x="3712071" y="3572781"/>
            <a:ext cx="1536673" cy="654888"/>
          </a:xfrm>
          <a:prstGeom prst="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Spring </a:t>
            </a:r>
            <a:r>
              <a:rPr lang="ko-KR" altLang="en-US" sz="800" dirty="0" err="1">
                <a:solidFill>
                  <a:schemeClr val="tx1"/>
                </a:solidFill>
              </a:rPr>
              <a:t>백엔드에서</a:t>
            </a:r>
            <a:r>
              <a:rPr lang="ko-KR" altLang="en-US" sz="800" dirty="0">
                <a:solidFill>
                  <a:schemeClr val="tx1"/>
                </a:solidFill>
              </a:rPr>
              <a:t> 추출한 통계 </a:t>
            </a:r>
            <a:r>
              <a:rPr lang="ko-KR" altLang="en-US" sz="800" dirty="0" smtClean="0">
                <a:solidFill>
                  <a:schemeClr val="tx1"/>
                </a:solidFill>
              </a:rPr>
              <a:t>데이터 가공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(Chart.js, , TOAST UI </a:t>
            </a:r>
            <a:r>
              <a:rPr lang="en-US" altLang="ko-KR" sz="800" dirty="0" smtClean="0">
                <a:solidFill>
                  <a:schemeClr val="tx1"/>
                </a:solidFill>
              </a:rPr>
              <a:t>Chart) </a:t>
            </a:r>
            <a:r>
              <a:rPr lang="ko-KR" altLang="en-US" sz="800" dirty="0">
                <a:solidFill>
                  <a:schemeClr val="tx1"/>
                </a:solidFill>
              </a:rPr>
              <a:t>표준  </a:t>
            </a:r>
            <a:r>
              <a:rPr lang="en-US" altLang="ko-KR" sz="800" dirty="0">
                <a:solidFill>
                  <a:schemeClr val="tx1"/>
                </a:solidFill>
              </a:rPr>
              <a:t>JSON </a:t>
            </a:r>
            <a:r>
              <a:rPr lang="ko-KR" altLang="en-US" sz="800" dirty="0">
                <a:solidFill>
                  <a:schemeClr val="tx1"/>
                </a:solidFill>
              </a:rPr>
              <a:t>배열 구조로 변환</a:t>
            </a:r>
          </a:p>
        </p:txBody>
      </p:sp>
      <p:sp>
        <p:nvSpPr>
          <p:cNvPr id="65" name="순서도: 판단 64"/>
          <p:cNvSpPr/>
          <p:nvPr/>
        </p:nvSpPr>
        <p:spPr>
          <a:xfrm>
            <a:off x="3520335" y="2734988"/>
            <a:ext cx="1920140" cy="502616"/>
          </a:xfrm>
          <a:prstGeom prst="flowChartDecision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대시보드</a:t>
            </a:r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</a:rPr>
              <a:t>리포트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출력 성공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3945147" y="1817326"/>
            <a:ext cx="1070517" cy="366547"/>
          </a:xfrm>
          <a:prstGeom prst="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에러 로그 기록</a:t>
            </a:r>
            <a:r>
              <a:rPr lang="en-US" altLang="ko-KR" sz="800" dirty="0" smtClean="0">
                <a:solidFill>
                  <a:schemeClr val="tx1"/>
                </a:solidFill>
              </a:rPr>
              <a:t/>
            </a:r>
            <a:br>
              <a:rPr lang="en-US" altLang="ko-KR" sz="800" dirty="0" smtClean="0">
                <a:solidFill>
                  <a:schemeClr val="tx1"/>
                </a:solidFill>
              </a:rPr>
            </a:br>
            <a:r>
              <a:rPr lang="ko-KR" altLang="en-US" sz="800" dirty="0" smtClean="0">
                <a:solidFill>
                  <a:schemeClr val="tx1"/>
                </a:solidFill>
              </a:rPr>
              <a:t>및 알림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5748148" y="2765534"/>
            <a:ext cx="1593910" cy="448687"/>
          </a:xfrm>
          <a:prstGeom prst="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보고 및 증빙 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차료</a:t>
            </a:r>
            <a:r>
              <a:rPr lang="ko-KR" altLang="en-US" sz="800" dirty="0" smtClean="0">
                <a:solidFill>
                  <a:schemeClr val="tx1"/>
                </a:solidFill>
              </a:rPr>
              <a:t> 출력 및 대시보드 표출</a:t>
            </a:r>
            <a:r>
              <a:rPr lang="en-US" altLang="ko-KR" sz="800" dirty="0">
                <a:solidFill>
                  <a:schemeClr val="tx1"/>
                </a:solidFill>
              </a:rPr>
              <a:t/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en-US" altLang="ko-KR" sz="800" dirty="0" smtClean="0">
                <a:solidFill>
                  <a:schemeClr val="tx1"/>
                </a:solidFill>
              </a:rPr>
              <a:t>CSS/</a:t>
            </a:r>
            <a:r>
              <a:rPr lang="en-US" altLang="ko-KR" sz="800" dirty="0" err="1" smtClean="0">
                <a:solidFill>
                  <a:schemeClr val="tx1"/>
                </a:solidFill>
              </a:rPr>
              <a:t>window.print</a:t>
            </a:r>
            <a:r>
              <a:rPr lang="en-US" altLang="ko-KR" sz="800" dirty="0" smtClean="0">
                <a:solidFill>
                  <a:schemeClr val="tx1"/>
                </a:solidFill>
              </a:rPr>
              <a:t>)</a:t>
            </a:r>
            <a:r>
              <a:rPr lang="ko-KR" altLang="en-US" sz="800" dirty="0" smtClean="0">
                <a:solidFill>
                  <a:schemeClr val="tx1"/>
                </a:solidFill>
              </a:rPr>
              <a:t>지원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1859432" y="2453365"/>
            <a:ext cx="1293758" cy="36654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AI </a:t>
            </a:r>
            <a:r>
              <a:rPr lang="ko-KR" altLang="en-US" sz="800" dirty="0">
                <a:solidFill>
                  <a:schemeClr val="tx1"/>
                </a:solidFill>
              </a:rPr>
              <a:t>분류 </a:t>
            </a:r>
            <a:r>
              <a:rPr lang="ko-KR" altLang="en-US" sz="800" dirty="0" err="1">
                <a:solidFill>
                  <a:schemeClr val="tx1"/>
                </a:solidFill>
              </a:rPr>
              <a:t>품종별</a:t>
            </a:r>
            <a:r>
              <a:rPr lang="ko-KR" altLang="en-US" sz="800" dirty="0">
                <a:solidFill>
                  <a:schemeClr val="tx1"/>
                </a:solidFill>
              </a:rPr>
              <a:t> 통계 분석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1859432" y="3104159"/>
            <a:ext cx="1293758" cy="36654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드론</a:t>
            </a:r>
            <a:r>
              <a:rPr lang="ko-KR" altLang="en-US" sz="800" dirty="0">
                <a:solidFill>
                  <a:schemeClr val="tx1"/>
                </a:solidFill>
              </a:rPr>
              <a:t> 비행 효율성 및 가동률 통계</a:t>
            </a:r>
          </a:p>
        </p:txBody>
      </p:sp>
      <p:sp>
        <p:nvSpPr>
          <p:cNvPr id="78" name="직사각형 77"/>
          <p:cNvSpPr/>
          <p:nvPr/>
        </p:nvSpPr>
        <p:spPr>
          <a:xfrm>
            <a:off x="1858483" y="3734828"/>
            <a:ext cx="1293758" cy="36654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대용량 통계 쿼리 성능 튜닝</a:t>
            </a:r>
          </a:p>
        </p:txBody>
      </p:sp>
      <p:sp>
        <p:nvSpPr>
          <p:cNvPr id="81" name="직사각형 80"/>
          <p:cNvSpPr/>
          <p:nvPr/>
        </p:nvSpPr>
        <p:spPr>
          <a:xfrm>
            <a:off x="5898224" y="3617214"/>
            <a:ext cx="1293758" cy="36654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차트 </a:t>
            </a:r>
            <a:r>
              <a:rPr lang="ko-KR" altLang="en-US" sz="800" dirty="0" err="1">
                <a:solidFill>
                  <a:schemeClr val="tx1"/>
                </a:solidFill>
              </a:rPr>
              <a:t>컴포넌트용</a:t>
            </a:r>
            <a:r>
              <a:rPr lang="ko-KR" altLang="en-US" sz="800" dirty="0">
                <a:solidFill>
                  <a:schemeClr val="tx1"/>
                </a:solidFill>
              </a:rPr>
              <a:t> 데이터 가공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5898224" y="4392021"/>
            <a:ext cx="1293758" cy="36654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행정 </a:t>
            </a:r>
            <a:r>
              <a:rPr lang="ko-KR" altLang="en-US" sz="800" dirty="0" err="1">
                <a:solidFill>
                  <a:schemeClr val="tx1"/>
                </a:solidFill>
              </a:rPr>
              <a:t>보고용</a:t>
            </a:r>
            <a:r>
              <a:rPr lang="ko-KR" altLang="en-US" sz="800" dirty="0">
                <a:solidFill>
                  <a:schemeClr val="tx1"/>
                </a:solidFill>
              </a:rPr>
              <a:t> 통계 리포트 출력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1772483" y="4392021"/>
            <a:ext cx="1467655" cy="366547"/>
          </a:xfrm>
          <a:prstGeom prst="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Oracle </a:t>
            </a:r>
            <a:r>
              <a:rPr lang="en-US" altLang="ko-KR" sz="800" dirty="0" smtClean="0">
                <a:solidFill>
                  <a:schemeClr val="tx1"/>
                </a:solidFill>
              </a:rPr>
              <a:t>DB </a:t>
            </a:r>
            <a:r>
              <a:rPr lang="ko-KR" altLang="en-US" sz="800" dirty="0" smtClean="0">
                <a:solidFill>
                  <a:schemeClr val="tx1"/>
                </a:solidFill>
              </a:rPr>
              <a:t>인덱스 설계 및 </a:t>
            </a:r>
            <a:r>
              <a:rPr lang="en-US" altLang="ko-KR" sz="800" dirty="0" err="1" smtClean="0">
                <a:solidFill>
                  <a:schemeClr val="tx1"/>
                </a:solidFill>
              </a:rPr>
              <a:t>MyBatis</a:t>
            </a:r>
            <a:r>
              <a:rPr lang="en-US" altLang="ko-KR" sz="800" dirty="0" smtClean="0">
                <a:solidFill>
                  <a:schemeClr val="tx1"/>
                </a:solidFill>
              </a:rPr>
              <a:t> 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매퍼</a:t>
            </a:r>
            <a:r>
              <a:rPr lang="ko-KR" altLang="en-US" sz="800" dirty="0" smtClean="0">
                <a:solidFill>
                  <a:schemeClr val="tx1"/>
                </a:solidFill>
              </a:rPr>
              <a:t> 최적화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93" name="직선 화살표 연결선 92"/>
          <p:cNvCxnSpPr>
            <a:stCxn id="65" idx="0"/>
            <a:endCxn id="66" idx="2"/>
          </p:cNvCxnSpPr>
          <p:nvPr/>
        </p:nvCxnSpPr>
        <p:spPr>
          <a:xfrm flipV="1">
            <a:off x="4480405" y="2183873"/>
            <a:ext cx="1" cy="55111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/>
          <p:cNvCxnSpPr>
            <a:stCxn id="64" idx="0"/>
            <a:endCxn id="65" idx="2"/>
          </p:cNvCxnSpPr>
          <p:nvPr/>
        </p:nvCxnSpPr>
        <p:spPr>
          <a:xfrm flipH="1" flipV="1">
            <a:off x="4480405" y="3237604"/>
            <a:ext cx="3" cy="33517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endCxn id="64" idx="2"/>
          </p:cNvCxnSpPr>
          <p:nvPr/>
        </p:nvCxnSpPr>
        <p:spPr>
          <a:xfrm flipV="1">
            <a:off x="3269874" y="4227669"/>
            <a:ext cx="1210534" cy="347631"/>
          </a:xfrm>
          <a:prstGeom prst="bentConnector2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468382" y="2348430"/>
            <a:ext cx="2229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>
                <a:solidFill>
                  <a:srgbClr val="FF0000"/>
                </a:solidFill>
              </a:rPr>
              <a:t>N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305858" y="2635488"/>
            <a:ext cx="2590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>
                <a:solidFill>
                  <a:srgbClr val="FF0000"/>
                </a:solidFill>
              </a:rPr>
              <a:t>Y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cxnSp>
        <p:nvCxnSpPr>
          <p:cNvPr id="57" name="직선 화살표 연결선 56"/>
          <p:cNvCxnSpPr>
            <a:stCxn id="4" idx="3"/>
            <a:endCxn id="5" idx="1"/>
          </p:cNvCxnSpPr>
          <p:nvPr/>
        </p:nvCxnSpPr>
        <p:spPr>
          <a:xfrm>
            <a:off x="1543197" y="2014746"/>
            <a:ext cx="316235" cy="206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>
            <a:stCxn id="65" idx="3"/>
            <a:endCxn id="67" idx="1"/>
          </p:cNvCxnSpPr>
          <p:nvPr/>
        </p:nvCxnSpPr>
        <p:spPr>
          <a:xfrm>
            <a:off x="5440475" y="2986296"/>
            <a:ext cx="307673" cy="358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/>
          <p:cNvCxnSpPr>
            <a:stCxn id="67" idx="2"/>
            <a:endCxn id="81" idx="0"/>
          </p:cNvCxnSpPr>
          <p:nvPr/>
        </p:nvCxnSpPr>
        <p:spPr>
          <a:xfrm>
            <a:off x="6545103" y="3214221"/>
            <a:ext cx="0" cy="40299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>
            <a:stCxn id="81" idx="2"/>
            <a:endCxn id="83" idx="0"/>
          </p:cNvCxnSpPr>
          <p:nvPr/>
        </p:nvCxnSpPr>
        <p:spPr>
          <a:xfrm>
            <a:off x="6545103" y="3983761"/>
            <a:ext cx="0" cy="40826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>
            <a:stCxn id="83" idx="3"/>
            <a:endCxn id="14" idx="1"/>
          </p:cNvCxnSpPr>
          <p:nvPr/>
        </p:nvCxnSpPr>
        <p:spPr>
          <a:xfrm flipV="1">
            <a:off x="7191982" y="4575294"/>
            <a:ext cx="379790" cy="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모서리가 둥근 직사각형 39"/>
          <p:cNvSpPr/>
          <p:nvPr/>
        </p:nvSpPr>
        <p:spPr>
          <a:xfrm>
            <a:off x="6017739" y="1826538"/>
            <a:ext cx="1070517" cy="33881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프로세스 종료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1" name="직선 화살표 연결선 40"/>
          <p:cNvCxnSpPr>
            <a:stCxn id="66" idx="3"/>
            <a:endCxn id="40" idx="1"/>
          </p:cNvCxnSpPr>
          <p:nvPr/>
        </p:nvCxnSpPr>
        <p:spPr>
          <a:xfrm flipV="1">
            <a:off x="5015664" y="1995945"/>
            <a:ext cx="1002075" cy="465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826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18525" y="19100"/>
            <a:ext cx="9125400" cy="50799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97125" y="649907"/>
            <a:ext cx="8946300" cy="4372200"/>
          </a:xfrm>
          <a:prstGeom prst="roundRect">
            <a:avLst>
              <a:gd name="adj" fmla="val 3690"/>
            </a:avLst>
          </a:prstGeom>
          <a:solidFill>
            <a:schemeClr val="lt1"/>
          </a:solidFill>
          <a:ln>
            <a:noFill/>
          </a:ln>
          <a:effectLst>
            <a:outerShdw dist="76200" dir="21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</a:t>
            </a:r>
          </a:p>
          <a:p>
            <a:pPr algn="ctr">
              <a:buClr>
                <a:srgbClr val="FFFFFF"/>
              </a:buClr>
              <a:buSzPts val="1400"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  </a:t>
            </a:r>
            <a:endParaRPr sz="1400" b="0" i="0" u="none" strike="noStrike" cap="none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97125" y="138364"/>
            <a:ext cx="5319900" cy="53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FDFBD4"/>
              </a:buClr>
              <a:buSzPts val="2850"/>
            </a:pPr>
            <a:r>
              <a:rPr lang="ko-KR" altLang="en-US" sz="2850" b="1" dirty="0" smtClean="0">
                <a:solidFill>
                  <a:schemeClr val="bg1"/>
                </a:solidFill>
              </a:rPr>
              <a:t>시설 유지 보수 관리</a:t>
            </a:r>
            <a:endParaRPr lang="ko-KR" altLang="en-US" sz="2850" b="1" dirty="0">
              <a:solidFill>
                <a:schemeClr val="bg1"/>
              </a:solidFill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-6123" y="-6255"/>
            <a:ext cx="78600" cy="592800"/>
          </a:xfrm>
          <a:prstGeom prst="rect">
            <a:avLst/>
          </a:prstGeom>
          <a:solidFill>
            <a:srgbClr val="FDFB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0"/>
          <p:cNvGraphicFramePr/>
          <p:nvPr>
            <p:extLst>
              <p:ext uri="{D42A27DB-BD31-4B8C-83A1-F6EECF244321}">
                <p14:modId xmlns:p14="http://schemas.microsoft.com/office/powerpoint/2010/main" val="2820826796"/>
              </p:ext>
            </p:extLst>
          </p:nvPr>
        </p:nvGraphicFramePr>
        <p:xfrm>
          <a:off x="478500" y="748512"/>
          <a:ext cx="8205450" cy="736640"/>
        </p:xfrm>
        <a:graphic>
          <a:graphicData uri="http://schemas.openxmlformats.org/drawingml/2006/table">
            <a:tbl>
              <a:tblPr>
                <a:noFill/>
                <a:tableStyleId>{8BFA3B82-0B14-4D30-A9CE-952FDBE51B78}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단위 프로세스 ID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altLang="ko-KR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SAS-SRS-01</a:t>
                      </a:r>
                      <a:endParaRPr lang="en-US" altLang="ko-KR"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 err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프로세스명</a:t>
                      </a:r>
                      <a:endParaRPr sz="1200" b="1" u="none" strike="noStrike" cap="none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디지털 순찰</a:t>
                      </a:r>
                      <a:r>
                        <a:rPr lang="en-US" altLang="ko-KR" sz="12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, </a:t>
                      </a:r>
                      <a:r>
                        <a:rPr lang="ko-KR" altLang="en-US" sz="12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점검 일지 생성 및 검증</a:t>
                      </a:r>
                      <a:endParaRPr sz="1200" b="1" i="0" u="none" strike="noStrike" kern="1200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작성일자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altLang="ko-KR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2026.08.25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강동현</a:t>
                      </a:r>
                      <a:endParaRPr sz="1200" b="1" i="0" u="none" strike="noStrike" kern="1200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모서리가 둥근 직사각형 3"/>
          <p:cNvSpPr/>
          <p:nvPr/>
        </p:nvSpPr>
        <p:spPr>
          <a:xfrm>
            <a:off x="6010753" y="4286705"/>
            <a:ext cx="1070517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일지 제출 성공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912921" y="2686942"/>
            <a:ext cx="1146592" cy="43650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드론</a:t>
            </a:r>
            <a:r>
              <a:rPr lang="ko-KR" altLang="en-US" sz="800" dirty="0" smtClean="0">
                <a:solidFill>
                  <a:schemeClr val="tx1"/>
                </a:solidFill>
              </a:rPr>
              <a:t> 통계 데이터 집계 및 오라클 </a:t>
            </a:r>
            <a:r>
              <a:rPr lang="en-US" altLang="ko-KR" sz="800" dirty="0" smtClean="0">
                <a:solidFill>
                  <a:schemeClr val="tx1"/>
                </a:solidFill>
              </a:rPr>
              <a:t>DB </a:t>
            </a:r>
            <a:r>
              <a:rPr lang="ko-KR" altLang="en-US" sz="800" dirty="0" smtClean="0">
                <a:solidFill>
                  <a:schemeClr val="tx1"/>
                </a:solidFill>
              </a:rPr>
              <a:t>자동 적재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8" name="직선 화살표 연결선 37"/>
          <p:cNvCxnSpPr>
            <a:stCxn id="37" idx="3"/>
            <a:endCxn id="22" idx="1"/>
          </p:cNvCxnSpPr>
          <p:nvPr/>
        </p:nvCxnSpPr>
        <p:spPr>
          <a:xfrm flipV="1">
            <a:off x="2059513" y="2899158"/>
            <a:ext cx="423991" cy="603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22" idx="2"/>
            <a:endCxn id="39" idx="0"/>
          </p:cNvCxnSpPr>
          <p:nvPr/>
        </p:nvCxnSpPr>
        <p:spPr>
          <a:xfrm>
            <a:off x="3180291" y="3140219"/>
            <a:ext cx="3885" cy="36122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다이아몬드 21"/>
          <p:cNvSpPr/>
          <p:nvPr/>
        </p:nvSpPr>
        <p:spPr>
          <a:xfrm>
            <a:off x="2483504" y="2658096"/>
            <a:ext cx="1393573" cy="482123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Batch </a:t>
            </a:r>
            <a:r>
              <a:rPr lang="ko-KR" altLang="en-US" sz="800" dirty="0" smtClean="0">
                <a:solidFill>
                  <a:schemeClr val="tx1"/>
                </a:solidFill>
              </a:rPr>
              <a:t>실행 성공 여부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/>
          <p:cNvCxnSpPr>
            <a:stCxn id="24" idx="3"/>
            <a:endCxn id="50" idx="1"/>
          </p:cNvCxnSpPr>
          <p:nvPr/>
        </p:nvCxnSpPr>
        <p:spPr>
          <a:xfrm>
            <a:off x="5321693" y="2895480"/>
            <a:ext cx="39566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stCxn id="50" idx="3"/>
            <a:endCxn id="53" idx="5"/>
          </p:cNvCxnSpPr>
          <p:nvPr/>
        </p:nvCxnSpPr>
        <p:spPr>
          <a:xfrm>
            <a:off x="7359803" y="2895480"/>
            <a:ext cx="288236" cy="66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98216" y="2690812"/>
            <a:ext cx="368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Y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75474" y="3123442"/>
            <a:ext cx="368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>
                <a:solidFill>
                  <a:srgbClr val="FF0000"/>
                </a:solidFill>
              </a:rPr>
              <a:t>N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4267905" y="4286706"/>
            <a:ext cx="1070517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로그 적재 후 종료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947670" y="1879323"/>
            <a:ext cx="1070517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일일 순찰 리포트 지정 시간 시작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/>
          <p:cNvCxnSpPr>
            <a:stCxn id="20" idx="2"/>
            <a:endCxn id="37" idx="0"/>
          </p:cNvCxnSpPr>
          <p:nvPr/>
        </p:nvCxnSpPr>
        <p:spPr>
          <a:xfrm>
            <a:off x="1482929" y="2231754"/>
            <a:ext cx="3288" cy="45518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평행 사변형 22"/>
          <p:cNvSpPr/>
          <p:nvPr/>
        </p:nvSpPr>
        <p:spPr>
          <a:xfrm>
            <a:off x="2605762" y="4299004"/>
            <a:ext cx="1149056" cy="340133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관리자 수동 재실행 </a:t>
            </a:r>
            <a:r>
              <a:rPr lang="en-US" altLang="ko-KR" sz="800" dirty="0" smtClean="0">
                <a:solidFill>
                  <a:schemeClr val="tx1"/>
                </a:solidFill>
              </a:rPr>
              <a:t>API 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51176" y="2726073"/>
            <a:ext cx="1070517" cy="33881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관제원</a:t>
            </a:r>
            <a:r>
              <a:rPr lang="ko-KR" altLang="en-US" sz="800" dirty="0" smtClean="0">
                <a:solidFill>
                  <a:schemeClr val="tx1"/>
                </a:solidFill>
              </a:rPr>
              <a:t> 일지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초안 리스트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2" name="꺾인 연결선 31"/>
          <p:cNvCxnSpPr>
            <a:stCxn id="23" idx="5"/>
            <a:endCxn id="37" idx="2"/>
          </p:cNvCxnSpPr>
          <p:nvPr/>
        </p:nvCxnSpPr>
        <p:spPr>
          <a:xfrm rot="10800000">
            <a:off x="1486217" y="3123443"/>
            <a:ext cx="1162062" cy="1345629"/>
          </a:xfrm>
          <a:prstGeom prst="bentConnector2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다이아몬드 38"/>
          <p:cNvSpPr/>
          <p:nvPr/>
        </p:nvSpPr>
        <p:spPr>
          <a:xfrm>
            <a:off x="2487389" y="3501448"/>
            <a:ext cx="1393573" cy="482123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관리자 계정 여부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0" name="직선 화살표 연결선 39"/>
          <p:cNvCxnSpPr>
            <a:stCxn id="39" idx="2"/>
            <a:endCxn id="23" idx="0"/>
          </p:cNvCxnSpPr>
          <p:nvPr/>
        </p:nvCxnSpPr>
        <p:spPr>
          <a:xfrm flipH="1">
            <a:off x="3180290" y="3983571"/>
            <a:ext cx="3886" cy="3154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3"/>
          <p:cNvCxnSpPr>
            <a:stCxn id="39" idx="3"/>
            <a:endCxn id="28" idx="0"/>
          </p:cNvCxnSpPr>
          <p:nvPr/>
        </p:nvCxnSpPr>
        <p:spPr>
          <a:xfrm>
            <a:off x="3880962" y="3742510"/>
            <a:ext cx="922202" cy="544196"/>
          </a:xfrm>
          <a:prstGeom prst="bentConnector2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>
            <a:stCxn id="22" idx="3"/>
            <a:endCxn id="24" idx="1"/>
          </p:cNvCxnSpPr>
          <p:nvPr/>
        </p:nvCxnSpPr>
        <p:spPr>
          <a:xfrm flipV="1">
            <a:off x="3877077" y="2895480"/>
            <a:ext cx="374099" cy="367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다이아몬드 49"/>
          <p:cNvSpPr/>
          <p:nvPr/>
        </p:nvSpPr>
        <p:spPr>
          <a:xfrm>
            <a:off x="5717353" y="2654418"/>
            <a:ext cx="1642450" cy="482123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데이터 유실</a:t>
            </a:r>
            <a:r>
              <a:rPr lang="en-US" altLang="ko-KR" sz="800" dirty="0" smtClean="0">
                <a:solidFill>
                  <a:schemeClr val="tx1"/>
                </a:solidFill>
              </a:rPr>
              <a:t>, 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오탐지</a:t>
            </a:r>
            <a:r>
              <a:rPr lang="ko-KR" altLang="en-US" sz="800" dirty="0" smtClean="0">
                <a:solidFill>
                  <a:schemeClr val="tx1"/>
                </a:solidFill>
              </a:rPr>
              <a:t> 여부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3" name="평행 사변형 52"/>
          <p:cNvSpPr/>
          <p:nvPr/>
        </p:nvSpPr>
        <p:spPr>
          <a:xfrm>
            <a:off x="7605522" y="2726073"/>
            <a:ext cx="1149056" cy="340133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데이터 수동 수정 보완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6" name="직선 화살표 연결선 55"/>
          <p:cNvCxnSpPr>
            <a:stCxn id="50" idx="2"/>
            <a:endCxn id="4" idx="0"/>
          </p:cNvCxnSpPr>
          <p:nvPr/>
        </p:nvCxnSpPr>
        <p:spPr>
          <a:xfrm>
            <a:off x="6538578" y="3136541"/>
            <a:ext cx="7434" cy="115016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꺾인 연결선 58"/>
          <p:cNvCxnSpPr>
            <a:stCxn id="53" idx="4"/>
            <a:endCxn id="4" idx="3"/>
          </p:cNvCxnSpPr>
          <p:nvPr/>
        </p:nvCxnSpPr>
        <p:spPr>
          <a:xfrm rot="5400000">
            <a:off x="6932303" y="3215173"/>
            <a:ext cx="1396715" cy="1098780"/>
          </a:xfrm>
          <a:prstGeom prst="bentConnector2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753984" y="2680035"/>
            <a:ext cx="368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Y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083846" y="3110593"/>
            <a:ext cx="368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>
                <a:solidFill>
                  <a:srgbClr val="FF0000"/>
                </a:solidFill>
              </a:rPr>
              <a:t>N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096881" y="3966758"/>
            <a:ext cx="368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Y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747209" y="3549119"/>
            <a:ext cx="368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>
                <a:solidFill>
                  <a:srgbClr val="FF0000"/>
                </a:solidFill>
              </a:rPr>
              <a:t>N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339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18525" y="19100"/>
            <a:ext cx="9125400" cy="50799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97125" y="649907"/>
            <a:ext cx="8946300" cy="4372200"/>
          </a:xfrm>
          <a:prstGeom prst="roundRect">
            <a:avLst>
              <a:gd name="adj" fmla="val 3690"/>
            </a:avLst>
          </a:prstGeom>
          <a:solidFill>
            <a:schemeClr val="lt1"/>
          </a:solidFill>
          <a:ln>
            <a:noFill/>
          </a:ln>
          <a:effectLst>
            <a:outerShdw dist="76200" dir="21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</a:t>
            </a:r>
          </a:p>
          <a:p>
            <a:pPr algn="ctr">
              <a:buClr>
                <a:srgbClr val="FFFFFF"/>
              </a:buClr>
              <a:buSzPts val="1400"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  </a:t>
            </a:r>
            <a:endParaRPr sz="1400" b="0" i="0" u="none" strike="noStrike" cap="none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97125" y="138364"/>
            <a:ext cx="5319900" cy="53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FDFBD4"/>
              </a:buClr>
              <a:buSzPts val="2850"/>
            </a:pPr>
            <a:r>
              <a:rPr lang="ko-KR" altLang="en-US" sz="2850" b="1" dirty="0" smtClean="0">
                <a:solidFill>
                  <a:schemeClr val="bg1"/>
                </a:solidFill>
              </a:rPr>
              <a:t>시설 유지 보수 관리</a:t>
            </a:r>
            <a:endParaRPr lang="ko-KR" altLang="en-US" sz="2850" b="1" dirty="0">
              <a:solidFill>
                <a:schemeClr val="bg1"/>
              </a:solidFill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-6123" y="-6255"/>
            <a:ext cx="78600" cy="592800"/>
          </a:xfrm>
          <a:prstGeom prst="rect">
            <a:avLst/>
          </a:prstGeom>
          <a:solidFill>
            <a:srgbClr val="FDFB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0"/>
          <p:cNvGraphicFramePr/>
          <p:nvPr>
            <p:extLst>
              <p:ext uri="{D42A27DB-BD31-4B8C-83A1-F6EECF244321}">
                <p14:modId xmlns:p14="http://schemas.microsoft.com/office/powerpoint/2010/main" val="2073020805"/>
              </p:ext>
            </p:extLst>
          </p:nvPr>
        </p:nvGraphicFramePr>
        <p:xfrm>
          <a:off x="478500" y="748512"/>
          <a:ext cx="8205450" cy="736640"/>
        </p:xfrm>
        <a:graphic>
          <a:graphicData uri="http://schemas.openxmlformats.org/drawingml/2006/table">
            <a:tbl>
              <a:tblPr>
                <a:noFill/>
                <a:tableStyleId>{8BFA3B82-0B14-4D30-A9CE-952FDBE51B78}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단위 프로세스 ID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altLang="ko-KR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SAS-SRS-02</a:t>
                      </a:r>
                      <a:endParaRPr lang="en-US" altLang="ko-KR"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 err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프로세스명</a:t>
                      </a:r>
                      <a:endParaRPr sz="1200" b="1" u="none" strike="noStrike" cap="none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스마트 교대 근무 인수 인계 시스템</a:t>
                      </a:r>
                      <a:endParaRPr sz="1200" b="1" i="0" u="none" strike="noStrike" kern="1200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작성일자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altLang="ko-KR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2026.08.25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강동현</a:t>
                      </a:r>
                      <a:endParaRPr sz="1200" b="1" i="0" u="none" strike="noStrike" kern="1200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" name="직사각형 36"/>
          <p:cNvSpPr/>
          <p:nvPr/>
        </p:nvSpPr>
        <p:spPr>
          <a:xfrm>
            <a:off x="833094" y="2686942"/>
            <a:ext cx="1146592" cy="43650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교대 근무 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인수인계서</a:t>
            </a:r>
            <a:r>
              <a:rPr lang="ko-KR" altLang="en-US" sz="800" dirty="0" smtClean="0">
                <a:solidFill>
                  <a:schemeClr val="tx1"/>
                </a:solidFill>
              </a:rPr>
              <a:t> 작성 요청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8" name="직선 화살표 연결선 37"/>
          <p:cNvCxnSpPr>
            <a:stCxn id="37" idx="3"/>
            <a:endCxn id="34" idx="5"/>
          </p:cNvCxnSpPr>
          <p:nvPr/>
        </p:nvCxnSpPr>
        <p:spPr>
          <a:xfrm flipV="1">
            <a:off x="1979686" y="2901367"/>
            <a:ext cx="587432" cy="382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24" idx="3"/>
            <a:endCxn id="46" idx="1"/>
          </p:cNvCxnSpPr>
          <p:nvPr/>
        </p:nvCxnSpPr>
        <p:spPr>
          <a:xfrm flipV="1">
            <a:off x="5241866" y="2903279"/>
            <a:ext cx="415928" cy="259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stCxn id="41" idx="2"/>
            <a:endCxn id="46" idx="0"/>
          </p:cNvCxnSpPr>
          <p:nvPr/>
        </p:nvCxnSpPr>
        <p:spPr>
          <a:xfrm>
            <a:off x="6193053" y="2231753"/>
            <a:ext cx="0" cy="48121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19"/>
          <p:cNvSpPr/>
          <p:nvPr/>
        </p:nvSpPr>
        <p:spPr>
          <a:xfrm>
            <a:off x="867843" y="1879323"/>
            <a:ext cx="1070517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인계자</a:t>
            </a:r>
            <a:r>
              <a:rPr lang="ko-KR" altLang="en-US" sz="800" dirty="0" smtClean="0">
                <a:solidFill>
                  <a:schemeClr val="tx1"/>
                </a:solidFill>
              </a:rPr>
              <a:t> 로그인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/>
          <p:cNvCxnSpPr>
            <a:stCxn id="20" idx="2"/>
            <a:endCxn id="37" idx="0"/>
          </p:cNvCxnSpPr>
          <p:nvPr/>
        </p:nvCxnSpPr>
        <p:spPr>
          <a:xfrm>
            <a:off x="1403102" y="2231754"/>
            <a:ext cx="3288" cy="45518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4171349" y="2715563"/>
            <a:ext cx="1070517" cy="38061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선택된 미결 항목 레코드 </a:t>
            </a:r>
            <a:r>
              <a:rPr lang="en-US" altLang="ko-KR" sz="800" dirty="0" smtClean="0">
                <a:solidFill>
                  <a:schemeClr val="tx1"/>
                </a:solidFill>
              </a:rPr>
              <a:t>DB</a:t>
            </a:r>
            <a:r>
              <a:rPr lang="ko-KR" altLang="en-US" sz="800" dirty="0" smtClean="0">
                <a:solidFill>
                  <a:schemeClr val="tx1"/>
                </a:solidFill>
              </a:rPr>
              <a:t>단 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락킹</a:t>
            </a:r>
            <a:r>
              <a:rPr lang="ko-KR" altLang="en-US" sz="800" dirty="0" smtClean="0">
                <a:solidFill>
                  <a:schemeClr val="tx1"/>
                </a:solidFill>
              </a:rPr>
              <a:t> 처리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7" name="직선 화살표 연결선 46"/>
          <p:cNvCxnSpPr>
            <a:stCxn id="34" idx="2"/>
            <a:endCxn id="24" idx="1"/>
          </p:cNvCxnSpPr>
          <p:nvPr/>
        </p:nvCxnSpPr>
        <p:spPr>
          <a:xfrm>
            <a:off x="3613512" y="2901367"/>
            <a:ext cx="557837" cy="450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268045" y="3520996"/>
            <a:ext cx="368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Y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792242" y="3520996"/>
            <a:ext cx="368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>
                <a:solidFill>
                  <a:srgbClr val="FF0000"/>
                </a:solidFill>
              </a:rPr>
              <a:t>N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4" name="평행 사변형 33"/>
          <p:cNvSpPr/>
          <p:nvPr/>
        </p:nvSpPr>
        <p:spPr>
          <a:xfrm>
            <a:off x="2515787" y="2696044"/>
            <a:ext cx="1149056" cy="410645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미결 변칙 상황 선택 및 인수 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인계서</a:t>
            </a:r>
            <a:r>
              <a:rPr lang="ko-KR" altLang="en-US" sz="800" dirty="0" smtClean="0">
                <a:solidFill>
                  <a:schemeClr val="tx1"/>
                </a:solidFill>
              </a:rPr>
              <a:t> 제출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5657794" y="1879322"/>
            <a:ext cx="1070517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인수자 로그인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657794" y="2712971"/>
            <a:ext cx="1070517" cy="38061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인수인계 내역 및 </a:t>
            </a:r>
            <a:r>
              <a:rPr lang="ko-KR" altLang="en-US" sz="800" dirty="0" err="1">
                <a:solidFill>
                  <a:schemeClr val="tx1"/>
                </a:solidFill>
              </a:rPr>
              <a:t>락킹된</a:t>
            </a:r>
            <a:r>
              <a:rPr lang="ko-KR" altLang="en-US" sz="800" dirty="0">
                <a:solidFill>
                  <a:schemeClr val="tx1"/>
                </a:solidFill>
              </a:rPr>
              <a:t> 미결 항목 리스트</a:t>
            </a:r>
          </a:p>
        </p:txBody>
      </p:sp>
      <p:sp>
        <p:nvSpPr>
          <p:cNvPr id="48" name="다이아몬드 47"/>
          <p:cNvSpPr/>
          <p:nvPr/>
        </p:nvSpPr>
        <p:spPr>
          <a:xfrm>
            <a:off x="5449830" y="3481865"/>
            <a:ext cx="1492321" cy="482123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인프라 상태 이상 유무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1" name="직선 화살표 연결선 50"/>
          <p:cNvCxnSpPr>
            <a:stCxn id="46" idx="2"/>
            <a:endCxn id="48" idx="0"/>
          </p:cNvCxnSpPr>
          <p:nvPr/>
        </p:nvCxnSpPr>
        <p:spPr>
          <a:xfrm>
            <a:off x="6193053" y="3093587"/>
            <a:ext cx="2938" cy="38827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평행 사변형 53"/>
          <p:cNvSpPr/>
          <p:nvPr/>
        </p:nvSpPr>
        <p:spPr>
          <a:xfrm>
            <a:off x="2515787" y="3517603"/>
            <a:ext cx="1149056" cy="410645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인계자</a:t>
            </a:r>
            <a:r>
              <a:rPr lang="ko-KR" altLang="en-US" sz="800" dirty="0" smtClean="0">
                <a:solidFill>
                  <a:schemeClr val="tx1"/>
                </a:solidFill>
              </a:rPr>
              <a:t> 보완 요청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5" name="직선 화살표 연결선 54"/>
          <p:cNvCxnSpPr>
            <a:stCxn id="48" idx="1"/>
            <a:endCxn id="54" idx="2"/>
          </p:cNvCxnSpPr>
          <p:nvPr/>
        </p:nvCxnSpPr>
        <p:spPr>
          <a:xfrm flipH="1" flipV="1">
            <a:off x="3613512" y="3722926"/>
            <a:ext cx="1836318" cy="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평행 사변형 59"/>
          <p:cNvSpPr/>
          <p:nvPr/>
        </p:nvSpPr>
        <p:spPr>
          <a:xfrm>
            <a:off x="7378346" y="3517603"/>
            <a:ext cx="1149056" cy="410645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인수 확인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2" name="모서리가 둥근 직사각형 61"/>
          <p:cNvSpPr/>
          <p:nvPr/>
        </p:nvSpPr>
        <p:spPr>
          <a:xfrm>
            <a:off x="7417615" y="4382839"/>
            <a:ext cx="1070517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인수 완료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67" name="직선 화살표 연결선 66"/>
          <p:cNvCxnSpPr>
            <a:stCxn id="48" idx="3"/>
            <a:endCxn id="60" idx="5"/>
          </p:cNvCxnSpPr>
          <p:nvPr/>
        </p:nvCxnSpPr>
        <p:spPr>
          <a:xfrm flipV="1">
            <a:off x="6942151" y="3722926"/>
            <a:ext cx="487526" cy="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>
            <a:stCxn id="60" idx="4"/>
            <a:endCxn id="62" idx="0"/>
          </p:cNvCxnSpPr>
          <p:nvPr/>
        </p:nvCxnSpPr>
        <p:spPr>
          <a:xfrm>
            <a:off x="7952874" y="3928248"/>
            <a:ext cx="0" cy="45459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>
            <a:stCxn id="54" idx="0"/>
            <a:endCxn id="34" idx="4"/>
          </p:cNvCxnSpPr>
          <p:nvPr/>
        </p:nvCxnSpPr>
        <p:spPr>
          <a:xfrm flipV="1">
            <a:off x="3090315" y="3106689"/>
            <a:ext cx="0" cy="41091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017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18525" y="19100"/>
            <a:ext cx="9125400" cy="50799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97125" y="649907"/>
            <a:ext cx="8946300" cy="4372200"/>
          </a:xfrm>
          <a:prstGeom prst="roundRect">
            <a:avLst>
              <a:gd name="adj" fmla="val 3690"/>
            </a:avLst>
          </a:prstGeom>
          <a:solidFill>
            <a:schemeClr val="lt1"/>
          </a:solidFill>
          <a:ln>
            <a:noFill/>
          </a:ln>
          <a:effectLst>
            <a:outerShdw dist="76200" dir="21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</a:t>
            </a:r>
          </a:p>
          <a:p>
            <a:pPr algn="ctr">
              <a:buClr>
                <a:srgbClr val="FFFFFF"/>
              </a:buClr>
              <a:buSzPts val="1400"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  </a:t>
            </a:r>
            <a:endParaRPr sz="1400" b="0" i="0" u="none" strike="noStrike" cap="none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97125" y="138364"/>
            <a:ext cx="5319900" cy="53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FDFBD4"/>
              </a:buClr>
              <a:buSzPts val="2850"/>
            </a:pPr>
            <a:r>
              <a:rPr lang="ko-KR" altLang="en-US" sz="2850" b="1" dirty="0" smtClean="0">
                <a:solidFill>
                  <a:schemeClr val="bg1"/>
                </a:solidFill>
              </a:rPr>
              <a:t>시설 유지 보수 관리</a:t>
            </a:r>
            <a:endParaRPr lang="ko-KR" altLang="en-US" sz="2850" b="1" dirty="0">
              <a:solidFill>
                <a:schemeClr val="bg1"/>
              </a:solidFill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-6123" y="-6255"/>
            <a:ext cx="78600" cy="592800"/>
          </a:xfrm>
          <a:prstGeom prst="rect">
            <a:avLst/>
          </a:prstGeom>
          <a:solidFill>
            <a:srgbClr val="FDFB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0"/>
          <p:cNvGraphicFramePr/>
          <p:nvPr>
            <p:extLst>
              <p:ext uri="{D42A27DB-BD31-4B8C-83A1-F6EECF244321}">
                <p14:modId xmlns:p14="http://schemas.microsoft.com/office/powerpoint/2010/main" val="4279724030"/>
              </p:ext>
            </p:extLst>
          </p:nvPr>
        </p:nvGraphicFramePr>
        <p:xfrm>
          <a:off x="478500" y="748512"/>
          <a:ext cx="8205450" cy="736640"/>
        </p:xfrm>
        <a:graphic>
          <a:graphicData uri="http://schemas.openxmlformats.org/drawingml/2006/table">
            <a:tbl>
              <a:tblPr>
                <a:noFill/>
                <a:tableStyleId>{8BFA3B82-0B14-4D30-A9CE-952FDBE51B78}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단위 프로세스 ID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altLang="ko-KR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SAS-SRS-03</a:t>
                      </a:r>
                      <a:endParaRPr lang="en-US" altLang="ko-KR"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 err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프로세스명</a:t>
                      </a:r>
                      <a:endParaRPr sz="1200" b="1" u="none" strike="noStrike" cap="none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행정 </a:t>
                      </a:r>
                      <a:r>
                        <a:rPr lang="ko-KR" altLang="en-US" sz="1200" b="1" i="0" u="none" strike="noStrike" kern="1200" cap="none" dirty="0" err="1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보고용</a:t>
                      </a:r>
                      <a:r>
                        <a:rPr lang="ko-KR" altLang="en-US" sz="12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 일지</a:t>
                      </a:r>
                      <a:endParaRPr lang="en-US" altLang="ko-KR" sz="1200" b="1" i="0" u="none" strike="noStrike" kern="1200" cap="none" dirty="0" smtClean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 변환 및 인쇄</a:t>
                      </a:r>
                      <a:endParaRPr sz="1200" b="1" i="0" u="none" strike="noStrike" kern="1200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작성일자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altLang="ko-KR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2026.08.25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강동현</a:t>
                      </a:r>
                      <a:endParaRPr sz="1200" b="1" i="0" u="none" strike="noStrike" kern="1200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" name="직사각형 36"/>
          <p:cNvSpPr/>
          <p:nvPr/>
        </p:nvSpPr>
        <p:spPr>
          <a:xfrm>
            <a:off x="867187" y="2662071"/>
            <a:ext cx="1146592" cy="43650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HTTP Request </a:t>
            </a:r>
            <a:r>
              <a:rPr lang="ko-KR" altLang="en-US" sz="800" dirty="0">
                <a:solidFill>
                  <a:schemeClr val="tx1"/>
                </a:solidFill>
              </a:rPr>
              <a:t>발송</a:t>
            </a:r>
          </a:p>
        </p:txBody>
      </p:sp>
      <p:cxnSp>
        <p:nvCxnSpPr>
          <p:cNvPr id="38" name="직선 화살표 연결선 37"/>
          <p:cNvCxnSpPr>
            <a:stCxn id="37" idx="3"/>
            <a:endCxn id="48" idx="1"/>
          </p:cNvCxnSpPr>
          <p:nvPr/>
        </p:nvCxnSpPr>
        <p:spPr>
          <a:xfrm>
            <a:off x="2013779" y="2880321"/>
            <a:ext cx="489114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42" idx="3"/>
            <a:endCxn id="24" idx="1"/>
          </p:cNvCxnSpPr>
          <p:nvPr/>
        </p:nvCxnSpPr>
        <p:spPr>
          <a:xfrm flipV="1">
            <a:off x="5467635" y="2872488"/>
            <a:ext cx="401904" cy="783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19"/>
          <p:cNvSpPr/>
          <p:nvPr/>
        </p:nvSpPr>
        <p:spPr>
          <a:xfrm>
            <a:off x="899373" y="1879323"/>
            <a:ext cx="1070517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일지 상세 조회 또는 출력 요청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/>
          <p:cNvCxnSpPr>
            <a:stCxn id="20" idx="2"/>
            <a:endCxn id="37" idx="0"/>
          </p:cNvCxnSpPr>
          <p:nvPr/>
        </p:nvCxnSpPr>
        <p:spPr>
          <a:xfrm>
            <a:off x="1434632" y="2231754"/>
            <a:ext cx="5851" cy="43031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5869539" y="2682180"/>
            <a:ext cx="1070517" cy="38061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공공기관 표준 서식 적용 및 반환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2" name="꺾인 연결선 31"/>
          <p:cNvCxnSpPr>
            <a:stCxn id="48" idx="2"/>
            <a:endCxn id="35" idx="0"/>
          </p:cNvCxnSpPr>
          <p:nvPr/>
        </p:nvCxnSpPr>
        <p:spPr>
          <a:xfrm rot="5400000">
            <a:off x="2143733" y="2412281"/>
            <a:ext cx="396221" cy="1814423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835859" y="2665985"/>
            <a:ext cx="368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Y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959649" y="3098571"/>
            <a:ext cx="368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>
                <a:solidFill>
                  <a:srgbClr val="FF0000"/>
                </a:solidFill>
              </a:rPr>
              <a:t>N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2726560" y="3547337"/>
            <a:ext cx="1070517" cy="4313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병목 방지를 위해 비동기 큐로 </a:t>
            </a:r>
            <a:r>
              <a:rPr lang="en-US" altLang="ko-KR" sz="800" dirty="0" smtClean="0">
                <a:solidFill>
                  <a:schemeClr val="tx1"/>
                </a:solidFill>
              </a:rPr>
              <a:t>PDF </a:t>
            </a:r>
            <a:r>
              <a:rPr lang="ko-KR" altLang="en-US" sz="800" dirty="0" smtClean="0">
                <a:solidFill>
                  <a:schemeClr val="tx1"/>
                </a:solidFill>
              </a:rPr>
              <a:t>빌드 위임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다이아몬드 47"/>
          <p:cNvSpPr/>
          <p:nvPr/>
        </p:nvSpPr>
        <p:spPr>
          <a:xfrm>
            <a:off x="2502893" y="2639259"/>
            <a:ext cx="1492321" cy="482123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해당 일지의 캐싱 유무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1" name="직선 화살표 연결선 50"/>
          <p:cNvCxnSpPr>
            <a:stCxn id="24" idx="3"/>
            <a:endCxn id="56" idx="1"/>
          </p:cNvCxnSpPr>
          <p:nvPr/>
        </p:nvCxnSpPr>
        <p:spPr>
          <a:xfrm>
            <a:off x="6940056" y="2872488"/>
            <a:ext cx="368199" cy="555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모서리가 둥근 직사각형 61"/>
          <p:cNvSpPr/>
          <p:nvPr/>
        </p:nvSpPr>
        <p:spPr>
          <a:xfrm>
            <a:off x="5869538" y="4356327"/>
            <a:ext cx="1070517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출력 완료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5" name="다이아몬드 34"/>
          <p:cNvSpPr/>
          <p:nvPr/>
        </p:nvSpPr>
        <p:spPr>
          <a:xfrm>
            <a:off x="688470" y="3517603"/>
            <a:ext cx="1492321" cy="482123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스냅샨</a:t>
            </a:r>
            <a:r>
              <a:rPr lang="ko-KR" altLang="en-US" sz="800" dirty="0" smtClean="0">
                <a:solidFill>
                  <a:schemeClr val="tx1"/>
                </a:solidFill>
              </a:rPr>
              <a:t> 이미지 포함 여부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397118" y="2613408"/>
            <a:ext cx="1070517" cy="53382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 smtClean="0">
                <a:solidFill>
                  <a:schemeClr val="tx1"/>
                </a:solidFill>
              </a:rPr>
              <a:t>iText</a:t>
            </a:r>
            <a:r>
              <a:rPr lang="en-US" altLang="ko-KR" sz="800" dirty="0" smtClean="0">
                <a:solidFill>
                  <a:schemeClr val="tx1"/>
                </a:solidFill>
              </a:rPr>
              <a:t> </a:t>
            </a:r>
            <a:r>
              <a:rPr lang="ko-KR" altLang="en-US" sz="800" dirty="0" smtClean="0">
                <a:solidFill>
                  <a:schemeClr val="tx1"/>
                </a:solidFill>
              </a:rPr>
              <a:t>라이브러리를 통해 서버 사이드 </a:t>
            </a:r>
            <a:r>
              <a:rPr lang="en-US" altLang="ko-KR" sz="800" dirty="0" smtClean="0">
                <a:solidFill>
                  <a:schemeClr val="tx1"/>
                </a:solidFill>
              </a:rPr>
              <a:t>PDF </a:t>
            </a:r>
            <a:r>
              <a:rPr lang="ko-KR" altLang="en-US" sz="800" dirty="0" smtClean="0">
                <a:solidFill>
                  <a:schemeClr val="tx1"/>
                </a:solidFill>
              </a:rPr>
              <a:t>스트림 동적 생성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3" name="직선 화살표 연결선 42"/>
          <p:cNvCxnSpPr>
            <a:stCxn id="35" idx="3"/>
            <a:endCxn id="46" idx="1"/>
          </p:cNvCxnSpPr>
          <p:nvPr/>
        </p:nvCxnSpPr>
        <p:spPr>
          <a:xfrm>
            <a:off x="2180791" y="3758665"/>
            <a:ext cx="545769" cy="435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>
            <a:stCxn id="48" idx="3"/>
            <a:endCxn id="42" idx="1"/>
          </p:cNvCxnSpPr>
          <p:nvPr/>
        </p:nvCxnSpPr>
        <p:spPr>
          <a:xfrm flipV="1">
            <a:off x="3995214" y="2880320"/>
            <a:ext cx="401904" cy="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9"/>
          <p:cNvCxnSpPr>
            <a:stCxn id="46" idx="3"/>
            <a:endCxn id="42" idx="2"/>
          </p:cNvCxnSpPr>
          <p:nvPr/>
        </p:nvCxnSpPr>
        <p:spPr>
          <a:xfrm flipV="1">
            <a:off x="3797077" y="3147231"/>
            <a:ext cx="1135300" cy="615791"/>
          </a:xfrm>
          <a:prstGeom prst="bentConnector2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/>
          <p:cNvSpPr/>
          <p:nvPr/>
        </p:nvSpPr>
        <p:spPr>
          <a:xfrm>
            <a:off x="7308255" y="2601970"/>
            <a:ext cx="1070517" cy="55215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웹 브라우저 내 </a:t>
            </a:r>
            <a:r>
              <a:rPr lang="en-US" altLang="ko-KR" sz="800" dirty="0" smtClean="0">
                <a:solidFill>
                  <a:schemeClr val="tx1"/>
                </a:solidFill>
              </a:rPr>
              <a:t>PDF </a:t>
            </a:r>
            <a:r>
              <a:rPr lang="ko-KR" altLang="en-US" sz="800" dirty="0" smtClean="0">
                <a:solidFill>
                  <a:schemeClr val="tx1"/>
                </a:solidFill>
              </a:rPr>
              <a:t>뷰어 컴포넌트 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랜더링</a:t>
            </a:r>
            <a:r>
              <a:rPr lang="ko-KR" altLang="en-US" sz="800" dirty="0" smtClean="0">
                <a:solidFill>
                  <a:schemeClr val="tx1"/>
                </a:solidFill>
              </a:rPr>
              <a:t> 및 인쇄 호출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013779" y="3543221"/>
            <a:ext cx="368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Y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cxnSp>
        <p:nvCxnSpPr>
          <p:cNvPr id="59" name="꺾인 연결선 58"/>
          <p:cNvCxnSpPr>
            <a:stCxn id="35" idx="2"/>
            <a:endCxn id="42" idx="2"/>
          </p:cNvCxnSpPr>
          <p:nvPr/>
        </p:nvCxnSpPr>
        <p:spPr>
          <a:xfrm rot="5400000" flipH="1" flipV="1">
            <a:off x="2757256" y="1824606"/>
            <a:ext cx="852495" cy="3497746"/>
          </a:xfrm>
          <a:prstGeom prst="bentConnector3">
            <a:avLst>
              <a:gd name="adj1" fmla="val -26815"/>
            </a:avLst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334130" y="3978706"/>
            <a:ext cx="368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>
                <a:solidFill>
                  <a:srgbClr val="FF0000"/>
                </a:solidFill>
              </a:rPr>
              <a:t>N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7308255" y="3517603"/>
            <a:ext cx="1070517" cy="460332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Print </a:t>
            </a:r>
            <a:r>
              <a:rPr lang="ko-KR" altLang="en-US" sz="800" dirty="0" smtClean="0">
                <a:solidFill>
                  <a:schemeClr val="tx1"/>
                </a:solidFill>
              </a:rPr>
              <a:t>미디어 쿼리 작동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5869538" y="3517603"/>
            <a:ext cx="1070517" cy="460332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행정 표준 문서 형태로 인쇄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0" name="직선 화살표 연결선 69"/>
          <p:cNvCxnSpPr>
            <a:stCxn id="56" idx="2"/>
            <a:endCxn id="64" idx="0"/>
          </p:cNvCxnSpPr>
          <p:nvPr/>
        </p:nvCxnSpPr>
        <p:spPr>
          <a:xfrm>
            <a:off x="7843514" y="3154124"/>
            <a:ext cx="0" cy="36347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/>
          <p:cNvCxnSpPr>
            <a:stCxn id="64" idx="1"/>
            <a:endCxn id="69" idx="3"/>
          </p:cNvCxnSpPr>
          <p:nvPr/>
        </p:nvCxnSpPr>
        <p:spPr>
          <a:xfrm flipH="1">
            <a:off x="6940055" y="3747769"/>
            <a:ext cx="3682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>
            <a:stCxn id="69" idx="2"/>
            <a:endCxn id="62" idx="0"/>
          </p:cNvCxnSpPr>
          <p:nvPr/>
        </p:nvCxnSpPr>
        <p:spPr>
          <a:xfrm>
            <a:off x="6404797" y="3977935"/>
            <a:ext cx="0" cy="37839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72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18525" y="19100"/>
            <a:ext cx="9125400" cy="50799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97125" y="649907"/>
            <a:ext cx="8946300" cy="4372200"/>
          </a:xfrm>
          <a:prstGeom prst="roundRect">
            <a:avLst>
              <a:gd name="adj" fmla="val 3690"/>
            </a:avLst>
          </a:prstGeom>
          <a:solidFill>
            <a:schemeClr val="lt1"/>
          </a:solidFill>
          <a:ln>
            <a:noFill/>
          </a:ln>
          <a:effectLst>
            <a:outerShdw dist="76200" dir="21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</a:t>
            </a:r>
          </a:p>
          <a:p>
            <a:pPr algn="ctr">
              <a:buClr>
                <a:srgbClr val="FFFFFF"/>
              </a:buClr>
              <a:buSzPts val="1400"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sz="1400" b="0" i="0" u="none" strike="noStrike" cap="none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endParaRPr lang="en-US" dirty="0" smtClean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sz="1400" b="0" i="0" u="none" strike="noStrike" cap="none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en-US" dirty="0" smtClean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                                                                             </a:t>
            </a:r>
            <a:endParaRPr sz="1400" b="0" i="0" u="none" strike="noStrike" cap="none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97125" y="138364"/>
            <a:ext cx="5319900" cy="53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FDFBD4"/>
              </a:buClr>
              <a:buSzPts val="2850"/>
            </a:pPr>
            <a:r>
              <a:rPr lang="ko-KR" altLang="en-US" sz="2850" b="1" dirty="0" smtClean="0">
                <a:solidFill>
                  <a:schemeClr val="bg1"/>
                </a:solidFill>
              </a:rPr>
              <a:t>시설 유지 보수 관리</a:t>
            </a:r>
            <a:endParaRPr lang="ko-KR" altLang="en-US" sz="2850" b="1" dirty="0">
              <a:solidFill>
                <a:schemeClr val="bg1"/>
              </a:solidFill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-6123" y="-6255"/>
            <a:ext cx="78600" cy="592800"/>
          </a:xfrm>
          <a:prstGeom prst="rect">
            <a:avLst/>
          </a:prstGeom>
          <a:solidFill>
            <a:srgbClr val="FDFB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0"/>
          <p:cNvGraphicFramePr/>
          <p:nvPr>
            <p:extLst>
              <p:ext uri="{D42A27DB-BD31-4B8C-83A1-F6EECF244321}">
                <p14:modId xmlns:p14="http://schemas.microsoft.com/office/powerpoint/2010/main" val="1930967371"/>
              </p:ext>
            </p:extLst>
          </p:nvPr>
        </p:nvGraphicFramePr>
        <p:xfrm>
          <a:off x="478500" y="748512"/>
          <a:ext cx="8205450" cy="736640"/>
        </p:xfrm>
        <a:graphic>
          <a:graphicData uri="http://schemas.openxmlformats.org/drawingml/2006/table">
            <a:tbl>
              <a:tblPr>
                <a:noFill/>
                <a:tableStyleId>{8BFA3B82-0B14-4D30-A9CE-952FDBE51B78}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단위 프로세스 ID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altLang="ko-KR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SAS-SRS-04</a:t>
                      </a:r>
                      <a:endParaRPr lang="en-US" altLang="ko-KR"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 err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프로세스명</a:t>
                      </a:r>
                      <a:endParaRPr sz="1200" b="1" u="none" strike="noStrike" cap="none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디지털 서명 및 </a:t>
                      </a:r>
                      <a:endParaRPr lang="en-US" altLang="ko-KR" sz="1200" b="1" i="0" u="none" strike="noStrike" kern="1200" cap="none" dirty="0" smtClean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전자 결재 </a:t>
                      </a:r>
                      <a:r>
                        <a:rPr lang="ko-KR" altLang="en-US" sz="1200" b="1" i="0" u="none" strike="noStrike" kern="1200" cap="none" dirty="0" err="1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워크플로우</a:t>
                      </a:r>
                      <a:endParaRPr sz="1200" b="1" i="0" u="none" strike="noStrike" kern="1200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작성일자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altLang="ko-KR" sz="1200" b="1" u="none" strike="noStrike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2026.08.25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작성자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altLang="en-US" sz="1200" b="1" i="0" u="none" strike="noStrike" kern="1200" cap="none" dirty="0" smtClean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강동현</a:t>
                      </a:r>
                      <a:endParaRPr sz="1200" b="1" i="0" u="none" strike="noStrike" kern="1200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0175" marR="90175" marT="47000" marB="4700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" name="직사각형 36"/>
          <p:cNvSpPr/>
          <p:nvPr/>
        </p:nvSpPr>
        <p:spPr>
          <a:xfrm>
            <a:off x="932500" y="2585871"/>
            <a:ext cx="1146592" cy="43650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관리자 계정 로그인 및 전자 </a:t>
            </a:r>
            <a:r>
              <a:rPr lang="ko-KR" altLang="en-US" sz="800" smtClean="0">
                <a:solidFill>
                  <a:schemeClr val="tx1"/>
                </a:solidFill>
              </a:rPr>
              <a:t>결재함 대시보드 접근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8" name="직선 화살표 연결선 37"/>
          <p:cNvCxnSpPr>
            <a:stCxn id="37" idx="2"/>
            <a:endCxn id="34" idx="0"/>
          </p:cNvCxnSpPr>
          <p:nvPr/>
        </p:nvCxnSpPr>
        <p:spPr>
          <a:xfrm flipH="1">
            <a:off x="1497719" y="3022371"/>
            <a:ext cx="8077" cy="28836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19"/>
          <p:cNvSpPr/>
          <p:nvPr/>
        </p:nvSpPr>
        <p:spPr>
          <a:xfrm>
            <a:off x="901626" y="1879323"/>
            <a:ext cx="1192186" cy="3524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관제원</a:t>
            </a:r>
            <a:r>
              <a:rPr lang="ko-KR" altLang="en-US" sz="800" dirty="0" smtClean="0">
                <a:solidFill>
                  <a:schemeClr val="tx1"/>
                </a:solidFill>
              </a:rPr>
              <a:t> 일일 점검 일지 결재 요청 수신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/>
          <p:cNvCxnSpPr>
            <a:stCxn id="20" idx="2"/>
            <a:endCxn id="37" idx="0"/>
          </p:cNvCxnSpPr>
          <p:nvPr/>
        </p:nvCxnSpPr>
        <p:spPr>
          <a:xfrm>
            <a:off x="1497719" y="2231754"/>
            <a:ext cx="8077" cy="35411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241907" y="3749140"/>
            <a:ext cx="368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Y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48" name="다이아몬드 47"/>
          <p:cNvSpPr/>
          <p:nvPr/>
        </p:nvSpPr>
        <p:spPr>
          <a:xfrm>
            <a:off x="2476088" y="3194455"/>
            <a:ext cx="1673094" cy="600070"/>
          </a:xfrm>
          <a:prstGeom prst="diamond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일지 데이터 및 통계 내용 이상 유무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9" name="꺾인 연결선 58"/>
          <p:cNvCxnSpPr>
            <a:stCxn id="39" idx="2"/>
            <a:endCxn id="48" idx="1"/>
          </p:cNvCxnSpPr>
          <p:nvPr/>
        </p:nvCxnSpPr>
        <p:spPr>
          <a:xfrm rot="5400000" flipH="1" flipV="1">
            <a:off x="1534000" y="3486756"/>
            <a:ext cx="934353" cy="949822"/>
          </a:xfrm>
          <a:prstGeom prst="bentConnector4">
            <a:avLst>
              <a:gd name="adj1" fmla="val -24466"/>
              <a:gd name="adj2" fmla="val 82928"/>
            </a:avLst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026878" y="3015527"/>
            <a:ext cx="368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>
                <a:solidFill>
                  <a:srgbClr val="FF0000"/>
                </a:solidFill>
              </a:rPr>
              <a:t>N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cxnSp>
        <p:nvCxnSpPr>
          <p:cNvPr id="70" name="직선 화살표 연결선 69"/>
          <p:cNvCxnSpPr>
            <a:stCxn id="48" idx="2"/>
            <a:endCxn id="44" idx="0"/>
          </p:cNvCxnSpPr>
          <p:nvPr/>
        </p:nvCxnSpPr>
        <p:spPr>
          <a:xfrm>
            <a:off x="3312635" y="3794525"/>
            <a:ext cx="5486" cy="27583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/>
          <p:cNvCxnSpPr>
            <a:stCxn id="48" idx="0"/>
            <a:endCxn id="45" idx="4"/>
          </p:cNvCxnSpPr>
          <p:nvPr/>
        </p:nvCxnSpPr>
        <p:spPr>
          <a:xfrm flipV="1">
            <a:off x="3312635" y="2903634"/>
            <a:ext cx="5486" cy="29082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>
            <a:stCxn id="34" idx="4"/>
            <a:endCxn id="39" idx="0"/>
          </p:cNvCxnSpPr>
          <p:nvPr/>
        </p:nvCxnSpPr>
        <p:spPr>
          <a:xfrm>
            <a:off x="1497719" y="3721381"/>
            <a:ext cx="28547" cy="27096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평행 사변형 33"/>
          <p:cNvSpPr/>
          <p:nvPr/>
        </p:nvSpPr>
        <p:spPr>
          <a:xfrm>
            <a:off x="797168" y="3310736"/>
            <a:ext cx="1401102" cy="410645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‘</a:t>
            </a:r>
            <a:r>
              <a:rPr lang="ko-KR" altLang="en-US" sz="800" dirty="0" smtClean="0">
                <a:solidFill>
                  <a:schemeClr val="tx1"/>
                </a:solidFill>
              </a:rPr>
              <a:t>결재 대기</a:t>
            </a:r>
            <a:r>
              <a:rPr lang="en-US" altLang="ko-KR" sz="800" dirty="0" smtClean="0">
                <a:solidFill>
                  <a:schemeClr val="tx1"/>
                </a:solidFill>
              </a:rPr>
              <a:t>‘ </a:t>
            </a:r>
            <a:r>
              <a:rPr lang="ko-KR" altLang="en-US" sz="800" dirty="0" smtClean="0">
                <a:solidFill>
                  <a:schemeClr val="tx1"/>
                </a:solidFill>
              </a:rPr>
              <a:t>상태 필터 선택 및 일지 상세 조회 요청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900741" y="3992343"/>
            <a:ext cx="1251050" cy="43650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전자 결재 일지 리스트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4" name="평행 사변형 43"/>
          <p:cNvSpPr/>
          <p:nvPr/>
        </p:nvSpPr>
        <p:spPr>
          <a:xfrm>
            <a:off x="2883134" y="4070355"/>
            <a:ext cx="869974" cy="280476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승인 선택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5" name="평행 사변형 44"/>
          <p:cNvSpPr/>
          <p:nvPr/>
        </p:nvSpPr>
        <p:spPr>
          <a:xfrm>
            <a:off x="2883134" y="2623158"/>
            <a:ext cx="869974" cy="280476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반려 선택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4798345" y="3992343"/>
            <a:ext cx="1251050" cy="43650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디지털 서명 이미지 워터마크 합성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7062283" y="3992343"/>
            <a:ext cx="1132187" cy="44728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결재 프로세스 완결 및 최종 보안 문서화 완료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4" name="평행 사변형 53"/>
          <p:cNvSpPr/>
          <p:nvPr/>
        </p:nvSpPr>
        <p:spPr>
          <a:xfrm>
            <a:off x="5564665" y="2635363"/>
            <a:ext cx="1157935" cy="280476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반려 사유 입력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141924" y="2627889"/>
            <a:ext cx="1033925" cy="28127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사유 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모달</a:t>
            </a:r>
            <a:r>
              <a:rPr lang="ko-KR" altLang="en-US" sz="800" dirty="0" smtClean="0">
                <a:solidFill>
                  <a:schemeClr val="tx1"/>
                </a:solidFill>
              </a:rPr>
              <a:t> 활성화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7111416" y="2641445"/>
            <a:ext cx="1033925" cy="28127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기안자</a:t>
            </a:r>
            <a:r>
              <a:rPr lang="ko-KR" altLang="en-US" sz="800" dirty="0" smtClean="0">
                <a:solidFill>
                  <a:schemeClr val="tx1"/>
                </a:solidFill>
              </a:rPr>
              <a:t> 알림 전송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7111415" y="1925083"/>
            <a:ext cx="1033925" cy="28127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일지 상태 </a:t>
            </a:r>
            <a:r>
              <a:rPr lang="en-US" altLang="ko-KR" sz="800" dirty="0" smtClean="0">
                <a:solidFill>
                  <a:schemeClr val="tx1"/>
                </a:solidFill>
              </a:rPr>
              <a:t>‘</a:t>
            </a:r>
            <a:r>
              <a:rPr lang="ko-KR" altLang="en-US" sz="800" dirty="0" smtClean="0">
                <a:solidFill>
                  <a:schemeClr val="tx1"/>
                </a:solidFill>
              </a:rPr>
              <a:t>수정 가능</a:t>
            </a:r>
            <a:r>
              <a:rPr lang="en-US" altLang="ko-KR" sz="800" dirty="0" smtClean="0">
                <a:solidFill>
                  <a:schemeClr val="tx1"/>
                </a:solidFill>
              </a:rPr>
              <a:t>‘ </a:t>
            </a:r>
            <a:r>
              <a:rPr lang="ko-KR" altLang="en-US" sz="800" dirty="0" smtClean="0">
                <a:solidFill>
                  <a:schemeClr val="tx1"/>
                </a:solidFill>
              </a:rPr>
              <a:t>으로 변경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7" name="평행 사변형 66"/>
          <p:cNvSpPr/>
          <p:nvPr/>
        </p:nvSpPr>
        <p:spPr>
          <a:xfrm>
            <a:off x="5564665" y="1836629"/>
            <a:ext cx="1157935" cy="449817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알림 확인 후 일지 수정 및 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재결재</a:t>
            </a:r>
            <a:r>
              <a:rPr lang="ko-KR" altLang="en-US" sz="800" dirty="0" smtClean="0">
                <a:solidFill>
                  <a:schemeClr val="tx1"/>
                </a:solidFill>
              </a:rPr>
              <a:t> 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68" name="직선 화살표 연결선 67"/>
          <p:cNvCxnSpPr>
            <a:stCxn id="45" idx="2"/>
            <a:endCxn id="55" idx="1"/>
          </p:cNvCxnSpPr>
          <p:nvPr/>
        </p:nvCxnSpPr>
        <p:spPr>
          <a:xfrm>
            <a:off x="3718049" y="2763396"/>
            <a:ext cx="423875" cy="512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>
            <a:stCxn id="55" idx="3"/>
            <a:endCxn id="54" idx="5"/>
          </p:cNvCxnSpPr>
          <p:nvPr/>
        </p:nvCxnSpPr>
        <p:spPr>
          <a:xfrm>
            <a:off x="5175849" y="2768525"/>
            <a:ext cx="423876" cy="707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>
            <a:stCxn id="54" idx="2"/>
            <a:endCxn id="57" idx="1"/>
          </p:cNvCxnSpPr>
          <p:nvPr/>
        </p:nvCxnSpPr>
        <p:spPr>
          <a:xfrm>
            <a:off x="6687541" y="2775601"/>
            <a:ext cx="423875" cy="648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/>
          <p:cNvCxnSpPr>
            <a:stCxn id="57" idx="0"/>
            <a:endCxn id="61" idx="2"/>
          </p:cNvCxnSpPr>
          <p:nvPr/>
        </p:nvCxnSpPr>
        <p:spPr>
          <a:xfrm flipH="1" flipV="1">
            <a:off x="7628378" y="2206354"/>
            <a:ext cx="1" cy="43509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>
            <a:stCxn id="61" idx="1"/>
            <a:endCxn id="67" idx="2"/>
          </p:cNvCxnSpPr>
          <p:nvPr/>
        </p:nvCxnSpPr>
        <p:spPr>
          <a:xfrm flipH="1" flipV="1">
            <a:off x="6666373" y="2061538"/>
            <a:ext cx="445042" cy="418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67" idx="5"/>
            <a:endCxn id="20" idx="3"/>
          </p:cNvCxnSpPr>
          <p:nvPr/>
        </p:nvCxnSpPr>
        <p:spPr>
          <a:xfrm flipH="1" flipV="1">
            <a:off x="2093812" y="2055539"/>
            <a:ext cx="3527080" cy="599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/>
          <p:cNvCxnSpPr>
            <a:stCxn id="44" idx="2"/>
            <a:endCxn id="47" idx="1"/>
          </p:cNvCxnSpPr>
          <p:nvPr/>
        </p:nvCxnSpPr>
        <p:spPr>
          <a:xfrm>
            <a:off x="3718049" y="4210593"/>
            <a:ext cx="108029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>
            <a:stCxn id="47" idx="3"/>
            <a:endCxn id="53" idx="1"/>
          </p:cNvCxnSpPr>
          <p:nvPr/>
        </p:nvCxnSpPr>
        <p:spPr>
          <a:xfrm>
            <a:off x="6049395" y="4210593"/>
            <a:ext cx="1012888" cy="539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0897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1230</TotalTime>
  <Words>1087</Words>
  <Application>Microsoft Office PowerPoint</Application>
  <PresentationFormat>화면 슬라이드 쇼(16:9)</PresentationFormat>
  <Paragraphs>544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Malgun Gothic</vt:lpstr>
      <vt:lpstr>Malgun Gothic</vt:lpstr>
      <vt:lpstr>바탕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</dc:creator>
  <cp:lastModifiedBy>DW</cp:lastModifiedBy>
  <cp:revision>262</cp:revision>
  <dcterms:modified xsi:type="dcterms:W3CDTF">2026-08-27T06:22:25Z</dcterms:modified>
</cp:coreProperties>
</file>